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280160"/>
          </a:xfrm>
          <a:prstGeom prst="rect">
            <a:avLst/>
          </a:prstGeom>
          <a:noFill/>
        </p:spPr>
        <p:txBody>
          <a:bodyPr wrap="square">
            <a:spAutoFit/>
          </a:bodyPr>
          <a:lstStyle/>
          <a:p>
            <a:pPr algn="ctr"/>
            <a:r>
              <a:rPr sz="4000" b="1" i="0">
                <a:solidFill>
                  <a:srgbClr val="FFFFFF"/>
                </a:solidFill>
                <a:latin typeface="Calibri"/>
              </a:rPr>
              <a:t>KPI &amp; BSP Calculation Working Session</a:t>
            </a:r>
          </a:p>
        </p:txBody>
      </p:sp>
      <p:sp>
        <p:nvSpPr>
          <p:cNvPr id="4" name="TextBox 3"/>
          <p:cNvSpPr txBox="1"/>
          <p:nvPr/>
        </p:nvSpPr>
        <p:spPr>
          <a:xfrm>
            <a:off x="1188720" y="3429000"/>
            <a:ext cx="9784080" cy="914400"/>
          </a:xfrm>
          <a:prstGeom prst="rect">
            <a:avLst/>
          </a:prstGeom>
          <a:noFill/>
        </p:spPr>
        <p:txBody>
          <a:bodyPr wrap="square">
            <a:spAutoFit/>
          </a:bodyPr>
          <a:lstStyle/>
          <a:p>
            <a:pPr algn="ctr"/>
            <a:r>
              <a:rPr sz="1800" b="0" i="1">
                <a:solidFill>
                  <a:srgbClr val="CFE7B8"/>
                </a:solidFill>
                <a:latin typeface="Calibri"/>
              </a:rPr>
              <a:t>How we measure performance, and how we calculate the Best Shown Performance (BSP) benchmark</a:t>
            </a:r>
          </a:p>
        </p:txBody>
      </p:sp>
      <p:sp>
        <p:nvSpPr>
          <p:cNvPr id="5" name="TextBox 4"/>
          <p:cNvSpPr txBox="1"/>
          <p:nvPr/>
        </p:nvSpPr>
        <p:spPr>
          <a:xfrm>
            <a:off x="1188720" y="6035040"/>
            <a:ext cx="9784080" cy="457200"/>
          </a:xfrm>
          <a:prstGeom prst="rect">
            <a:avLst/>
          </a:prstGeom>
          <a:noFill/>
        </p:spPr>
        <p:txBody>
          <a:bodyPr wrap="square">
            <a:spAutoFit/>
          </a:bodyPr>
          <a:lstStyle/>
          <a:p>
            <a:pPr algn="ctr"/>
            <a:r>
              <a:rPr sz="1300" b="0" i="0">
                <a:solidFill>
                  <a:srgbClr val="9EC97A"/>
                </a:solidFill>
                <a:latin typeface="Calibri"/>
              </a:rPr>
              <a:t>Folding Carton Actionable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WORKING SESSION</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Purpose of Today's Session</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0789920" cy="2011680"/>
          </a:xfrm>
          <a:prstGeom prst="rect">
            <a:avLst/>
          </a:prstGeom>
          <a:noFill/>
        </p:spPr>
        <p:txBody>
          <a:bodyPr wrap="square">
            <a:spAutoFit/>
          </a:bodyPr>
          <a:lstStyle/>
          <a:p>
            <a:pPr>
              <a:spcAft>
                <a:spcPts val="1400"/>
              </a:spcAft>
            </a:pPr>
            <a:r>
              <a:rPr sz="1700">
                <a:solidFill>
                  <a:srgbClr val="3D3935"/>
                </a:solidFill>
              </a:rPr>
              <a:t>• Review exactly how each KPI and its BSP (Best Shown Performance) benchmark are calculated today — in plain business language, not code.</a:t>
            </a:r>
          </a:p>
          <a:p>
            <a:pPr>
              <a:spcAft>
                <a:spcPts val="1400"/>
              </a:spcAft>
            </a:pPr>
            <a:r>
              <a:rPr sz="1700">
                <a:solidFill>
                  <a:srgbClr val="3D3935"/>
                </a:solidFill>
              </a:rPr>
              <a:t>• Every formula shown was taken directly from the production calculation script — nothing here is invented.</a:t>
            </a:r>
          </a:p>
          <a:p>
            <a:pPr>
              <a:spcAft>
                <a:spcPts val="1400"/>
              </a:spcAft>
            </a:pPr>
            <a:r>
              <a:rPr sz="1700">
                <a:solidFill>
                  <a:srgbClr val="3D3935"/>
                </a:solidFill>
              </a:rPr>
              <a:t>• This is a working session, not a final declaration that the current methodology is correct.</a:t>
            </a:r>
          </a:p>
        </p:txBody>
      </p:sp>
      <p:sp>
        <p:nvSpPr>
          <p:cNvPr id="7" name="Rounded Rectangle 6"/>
          <p:cNvSpPr/>
          <p:nvPr/>
        </p:nvSpPr>
        <p:spPr>
          <a:xfrm>
            <a:off x="548640" y="3840480"/>
            <a:ext cx="10881360" cy="210312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023360"/>
            <a:ext cx="10332720" cy="365760"/>
          </a:xfrm>
          <a:prstGeom prst="rect">
            <a:avLst/>
          </a:prstGeom>
          <a:noFill/>
        </p:spPr>
        <p:txBody>
          <a:bodyPr wrap="square">
            <a:spAutoFit/>
          </a:bodyPr>
          <a:lstStyle/>
          <a:p>
            <a:pPr algn="l"/>
            <a:r>
              <a:rPr sz="1500" b="1" i="0">
                <a:solidFill>
                  <a:srgbClr val="006548"/>
                </a:solidFill>
                <a:latin typeface="Calibri"/>
              </a:rPr>
              <a:t>Pilot Scope — keep in mind throughout</a:t>
            </a:r>
          </a:p>
        </p:txBody>
      </p:sp>
      <p:sp>
        <p:nvSpPr>
          <p:cNvPr id="9" name="TextBox 8"/>
          <p:cNvSpPr txBox="1"/>
          <p:nvPr/>
        </p:nvSpPr>
        <p:spPr>
          <a:xfrm>
            <a:off x="822960" y="4434840"/>
            <a:ext cx="10332720" cy="1463040"/>
          </a:xfrm>
          <a:prstGeom prst="rect">
            <a:avLst/>
          </a:prstGeom>
          <a:noFill/>
        </p:spPr>
        <p:txBody>
          <a:bodyPr wrap="square">
            <a:spAutoFit/>
          </a:bodyPr>
          <a:lstStyle/>
          <a:p>
            <a:pPr>
              <a:spcAft>
                <a:spcPts val="600"/>
              </a:spcAft>
            </a:pPr>
            <a:r>
              <a:rPr sz="1350">
                <a:solidFill>
                  <a:srgbClr val="3D3935"/>
                </a:solidFill>
              </a:rPr>
              <a:t>• Only 13 machines are currently in scope; all others are excluded.</a:t>
            </a:r>
          </a:p>
          <a:p>
            <a:pPr>
              <a:spcAft>
                <a:spcPts val="600"/>
              </a:spcAft>
            </a:pPr>
            <a:r>
              <a:rPr sz="1350">
                <a:solidFill>
                  <a:srgbClr val="3D3935"/>
                </a:solidFill>
              </a:rPr>
              <a:t>• History is available from January 1, 2025 only — benchmarks are designed to use up to 24 months, but currently run on less than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HOW IT WORKS</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Overall Calculation Flow</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365760" y="2377440"/>
            <a:ext cx="1856740" cy="914400"/>
          </a:xfrm>
          <a:prstGeom prst="chevron">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Production / Event Data</a:t>
            </a:r>
          </a:p>
        </p:txBody>
      </p:sp>
      <p:sp>
        <p:nvSpPr>
          <p:cNvPr id="7" name="Chevron 6"/>
          <p:cNvSpPr/>
          <p:nvPr/>
        </p:nvSpPr>
        <p:spPr>
          <a:xfrm>
            <a:off x="2112772" y="2377440"/>
            <a:ext cx="1856740" cy="914400"/>
          </a:xfrm>
          <a:prstGeom prst="chevron">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KPI Calculation (per run)</a:t>
            </a:r>
          </a:p>
        </p:txBody>
      </p:sp>
      <p:sp>
        <p:nvSpPr>
          <p:cNvPr id="8" name="Chevron 7"/>
          <p:cNvSpPr/>
          <p:nvPr/>
        </p:nvSpPr>
        <p:spPr>
          <a:xfrm>
            <a:off x="3859784" y="2377440"/>
            <a:ext cx="1856740" cy="914400"/>
          </a:xfrm>
          <a:prstGeom prst="chevron">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Actual Performance (last week)</a:t>
            </a:r>
          </a:p>
        </p:txBody>
      </p:sp>
      <p:sp>
        <p:nvSpPr>
          <p:cNvPr id="9" name="Chevron 8"/>
          <p:cNvSpPr/>
          <p:nvPr/>
        </p:nvSpPr>
        <p:spPr>
          <a:xfrm>
            <a:off x="5606796" y="2377440"/>
            <a:ext cx="1856740" cy="914400"/>
          </a:xfrm>
          <a:prstGeom prst="chevron">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BSP / Target (from history)</a:t>
            </a:r>
          </a:p>
        </p:txBody>
      </p:sp>
      <p:sp>
        <p:nvSpPr>
          <p:cNvPr id="10" name="Chevron 9"/>
          <p:cNvSpPr/>
          <p:nvPr/>
        </p:nvSpPr>
        <p:spPr>
          <a:xfrm>
            <a:off x="7353808" y="2377440"/>
            <a:ext cx="1856740" cy="914400"/>
          </a:xfrm>
          <a:prstGeom prst="chevron">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BSP Performance (Actual vs BSP)</a:t>
            </a:r>
          </a:p>
        </p:txBody>
      </p:sp>
      <p:sp>
        <p:nvSpPr>
          <p:cNvPr id="11" name="Chevron 10"/>
          <p:cNvSpPr/>
          <p:nvPr/>
        </p:nvSpPr>
        <p:spPr>
          <a:xfrm>
            <a:off x="9100820" y="2377440"/>
            <a:ext cx="1856740" cy="914400"/>
          </a:xfrm>
          <a:prstGeom prst="chevron">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Sheet Gap (converted to sheets)</a:t>
            </a:r>
          </a:p>
        </p:txBody>
      </p:sp>
      <p:sp>
        <p:nvSpPr>
          <p:cNvPr id="12" name="TextBox 11"/>
          <p:cNvSpPr txBox="1"/>
          <p:nvPr/>
        </p:nvSpPr>
        <p:spPr>
          <a:xfrm>
            <a:off x="640080" y="3749039"/>
            <a:ext cx="10789920" cy="2377440"/>
          </a:xfrm>
          <a:prstGeom prst="rect">
            <a:avLst/>
          </a:prstGeom>
          <a:noFill/>
        </p:spPr>
        <p:txBody>
          <a:bodyPr wrap="square">
            <a:spAutoFit/>
          </a:bodyPr>
          <a:lstStyle/>
          <a:p>
            <a:pPr>
              <a:spcAft>
                <a:spcPts val="1000"/>
              </a:spcAft>
            </a:pPr>
            <a:r>
              <a:rPr b="1" sz="1500">
                <a:solidFill>
                  <a:srgbClr val="006548"/>
                </a:solidFill>
              </a:rPr>
              <a:t>• Actual: </a:t>
            </a:r>
            <a:r>
              <a:rPr sz="1500">
                <a:solidFill>
                  <a:srgbClr val="3D3935"/>
                </a:solidFill>
              </a:rPr>
              <a:t>what the machine did last week.</a:t>
            </a:r>
          </a:p>
          <a:p>
            <a:pPr>
              <a:spcAft>
                <a:spcPts val="1000"/>
              </a:spcAft>
            </a:pPr>
            <a:r>
              <a:rPr b="1" sz="1500">
                <a:solidFill>
                  <a:srgbClr val="006548"/>
                </a:solidFill>
              </a:rPr>
              <a:t>• BSP: </a:t>
            </a:r>
            <a:r>
              <a:rPr sz="1500">
                <a:solidFill>
                  <a:srgbClr val="3D3935"/>
                </a:solidFill>
              </a:rPr>
              <a:t>the benchmark, built from that machine's own best demonstrated history.</a:t>
            </a:r>
          </a:p>
          <a:p>
            <a:pPr>
              <a:spcAft>
                <a:spcPts val="1000"/>
              </a:spcAft>
            </a:pPr>
            <a:r>
              <a:rPr b="1" sz="1500">
                <a:solidFill>
                  <a:srgbClr val="006548"/>
                </a:solidFill>
              </a:rPr>
              <a:t>• BSP Performance / Gap: </a:t>
            </a:r>
            <a:r>
              <a:rPr sz="1500">
                <a:solidFill>
                  <a:srgbClr val="3D3935"/>
                </a:solidFill>
              </a:rPr>
              <a:t>the difference between Actual and BSP.</a:t>
            </a:r>
          </a:p>
          <a:p>
            <a:pPr>
              <a:spcAft>
                <a:spcPts val="1000"/>
              </a:spcAft>
            </a:pPr>
            <a:r>
              <a:rPr b="1" sz="1500">
                <a:solidFill>
                  <a:srgbClr val="006548"/>
                </a:solidFill>
              </a:rPr>
              <a:t>• Sheet Gap: </a:t>
            </a:r>
            <a:r>
              <a:rPr sz="1500">
                <a:solidFill>
                  <a:srgbClr val="3D3935"/>
                </a:solidFill>
              </a:rPr>
              <a:t>that gap converted into an estimated number of sheets lost — the common scale used to rank every opportunity.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THE CORE MECHANISM</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How BSP Is Calculated</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08760"/>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502920" cy="685800"/>
          </a:xfrm>
          <a:prstGeom prst="rect">
            <a:avLst/>
          </a:prstGeom>
          <a:noFill/>
        </p:spPr>
        <p:txBody>
          <a:bodyPr wrap="square" anchor="ctr">
            <a:spAutoFit/>
          </a:bodyPr>
          <a:lstStyle/>
          <a:p>
            <a:pPr algn="ctr"/>
            <a:r>
              <a:rPr sz="2000" b="1" i="0">
                <a:solidFill>
                  <a:srgbClr val="FFFFFF"/>
                </a:solidFill>
                <a:latin typeface="Calibri"/>
              </a:rPr>
              <a:t>1</a:t>
            </a:r>
          </a:p>
        </p:txBody>
      </p:sp>
      <p:sp>
        <p:nvSpPr>
          <p:cNvPr id="8" name="TextBox 7"/>
          <p:cNvSpPr txBox="1"/>
          <p:nvPr/>
        </p:nvSpPr>
        <p:spPr>
          <a:xfrm>
            <a:off x="1188720" y="1508760"/>
            <a:ext cx="10241280" cy="685800"/>
          </a:xfrm>
          <a:prstGeom prst="rect">
            <a:avLst/>
          </a:prstGeom>
          <a:noFill/>
        </p:spPr>
        <p:txBody>
          <a:bodyPr wrap="square" anchor="ctr">
            <a:spAutoFit/>
          </a:bodyPr>
          <a:lstStyle/>
          <a:p>
            <a:pPr algn="l"/>
            <a:r>
              <a:rPr sz="1450" b="0" i="0">
                <a:solidFill>
                  <a:srgbClr val="3D3935"/>
                </a:solidFill>
                <a:latin typeface="Calibri"/>
              </a:rPr>
              <a:t>History pool: every qualifying run, ~last 24 months, run time &gt; 2 hrs</a:t>
            </a:r>
          </a:p>
        </p:txBody>
      </p:sp>
      <p:sp>
        <p:nvSpPr>
          <p:cNvPr id="9" name="Rounded Rectangle 8"/>
          <p:cNvSpPr/>
          <p:nvPr/>
        </p:nvSpPr>
        <p:spPr>
          <a:xfrm>
            <a:off x="548640" y="2267712"/>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67712"/>
            <a:ext cx="502920" cy="685800"/>
          </a:xfrm>
          <a:prstGeom prst="rect">
            <a:avLst/>
          </a:prstGeom>
          <a:noFill/>
        </p:spPr>
        <p:txBody>
          <a:bodyPr wrap="square" anchor="ctr">
            <a:spAutoFit/>
          </a:bodyPr>
          <a:lstStyle/>
          <a:p>
            <a:pPr algn="ctr"/>
            <a:r>
              <a:rPr sz="2000" b="1" i="0">
                <a:solidFill>
                  <a:srgbClr val="FFFFFF"/>
                </a:solidFill>
                <a:latin typeface="Calibri"/>
              </a:rPr>
              <a:t>2</a:t>
            </a:r>
          </a:p>
        </p:txBody>
      </p:sp>
      <p:sp>
        <p:nvSpPr>
          <p:cNvPr id="11" name="TextBox 10"/>
          <p:cNvSpPr txBox="1"/>
          <p:nvPr/>
        </p:nvSpPr>
        <p:spPr>
          <a:xfrm>
            <a:off x="1188720" y="2267712"/>
            <a:ext cx="10241280" cy="685800"/>
          </a:xfrm>
          <a:prstGeom prst="rect">
            <a:avLst/>
          </a:prstGeom>
          <a:noFill/>
        </p:spPr>
        <p:txBody>
          <a:bodyPr wrap="square" anchor="ctr">
            <a:spAutoFit/>
          </a:bodyPr>
          <a:lstStyle/>
          <a:p>
            <a:pPr algn="l"/>
            <a:r>
              <a:rPr sz="1450" b="0" i="0">
                <a:solidFill>
                  <a:srgbClr val="3D3935"/>
                </a:solidFill>
                <a:latin typeface="Calibri"/>
              </a:rPr>
              <a:t>Percentile, not best-ever: P75 (higher-better KPIs) or P25 (lower-better KPIs)</a:t>
            </a:r>
          </a:p>
        </p:txBody>
      </p:sp>
      <p:sp>
        <p:nvSpPr>
          <p:cNvPr id="12" name="Rounded Rectangle 11"/>
          <p:cNvSpPr/>
          <p:nvPr/>
        </p:nvSpPr>
        <p:spPr>
          <a:xfrm>
            <a:off x="548640" y="3026664"/>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026664"/>
            <a:ext cx="502920" cy="685800"/>
          </a:xfrm>
          <a:prstGeom prst="rect">
            <a:avLst/>
          </a:prstGeom>
          <a:noFill/>
        </p:spPr>
        <p:txBody>
          <a:bodyPr wrap="square" anchor="ctr">
            <a:spAutoFit/>
          </a:bodyPr>
          <a:lstStyle/>
          <a:p>
            <a:pPr algn="ctr"/>
            <a:r>
              <a:rPr sz="2000" b="1" i="0">
                <a:solidFill>
                  <a:srgbClr val="FFFFFF"/>
                </a:solidFill>
                <a:latin typeface="Calibri"/>
              </a:rPr>
              <a:t>3</a:t>
            </a:r>
          </a:p>
        </p:txBody>
      </p:sp>
      <p:sp>
        <p:nvSpPr>
          <p:cNvPr id="14" name="TextBox 13"/>
          <p:cNvSpPr txBox="1"/>
          <p:nvPr/>
        </p:nvSpPr>
        <p:spPr>
          <a:xfrm>
            <a:off x="1188720" y="3026664"/>
            <a:ext cx="10241280" cy="685800"/>
          </a:xfrm>
          <a:prstGeom prst="rect">
            <a:avLst/>
          </a:prstGeom>
          <a:noFill/>
        </p:spPr>
        <p:txBody>
          <a:bodyPr wrap="square" anchor="ctr">
            <a:spAutoFit/>
          </a:bodyPr>
          <a:lstStyle/>
          <a:p>
            <a:pPr algn="l"/>
            <a:r>
              <a:rPr sz="1450" b="0" i="0">
                <a:solidFill>
                  <a:srgbClr val="3D3935"/>
                </a:solidFill>
                <a:latin typeface="Calibri"/>
              </a:rPr>
              <a:t>3 levels of specificity: Die (≥15 runs) → Board (≥25) → Machine (≥35)</a:t>
            </a:r>
          </a:p>
        </p:txBody>
      </p:sp>
      <p:sp>
        <p:nvSpPr>
          <p:cNvPr id="15" name="Rounded Rectangle 14"/>
          <p:cNvSpPr/>
          <p:nvPr/>
        </p:nvSpPr>
        <p:spPr>
          <a:xfrm>
            <a:off x="548640" y="3785616"/>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85616"/>
            <a:ext cx="502920" cy="685800"/>
          </a:xfrm>
          <a:prstGeom prst="rect">
            <a:avLst/>
          </a:prstGeom>
          <a:noFill/>
        </p:spPr>
        <p:txBody>
          <a:bodyPr wrap="square" anchor="ctr">
            <a:spAutoFit/>
          </a:bodyPr>
          <a:lstStyle/>
          <a:p>
            <a:pPr algn="ctr"/>
            <a:r>
              <a:rPr sz="2000" b="1" i="0">
                <a:solidFill>
                  <a:srgbClr val="FFFFFF"/>
                </a:solidFill>
                <a:latin typeface="Calibri"/>
              </a:rPr>
              <a:t>4</a:t>
            </a:r>
          </a:p>
        </p:txBody>
      </p:sp>
      <p:sp>
        <p:nvSpPr>
          <p:cNvPr id="17" name="TextBox 16"/>
          <p:cNvSpPr txBox="1"/>
          <p:nvPr/>
        </p:nvSpPr>
        <p:spPr>
          <a:xfrm>
            <a:off x="1188720" y="3785616"/>
            <a:ext cx="10241280" cy="685800"/>
          </a:xfrm>
          <a:prstGeom prst="rect">
            <a:avLst/>
          </a:prstGeom>
          <a:noFill/>
        </p:spPr>
        <p:txBody>
          <a:bodyPr wrap="square" anchor="ctr">
            <a:spAutoFit/>
          </a:bodyPr>
          <a:lstStyle/>
          <a:p>
            <a:pPr algn="l"/>
            <a:r>
              <a:rPr sz="1450" b="0" i="0">
                <a:solidFill>
                  <a:srgbClr val="3D3935"/>
                </a:solidFill>
                <a:latin typeface="Calibri"/>
              </a:rPr>
              <a:t>Most specific level with enough data wins — sets HIGH / MEDIUM / LOW confidence</a:t>
            </a:r>
          </a:p>
        </p:txBody>
      </p:sp>
      <p:sp>
        <p:nvSpPr>
          <p:cNvPr id="18" name="Rounded Rectangle 17"/>
          <p:cNvSpPr/>
          <p:nvPr/>
        </p:nvSpPr>
        <p:spPr>
          <a:xfrm>
            <a:off x="548640" y="4544568"/>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44568"/>
            <a:ext cx="502920" cy="685800"/>
          </a:xfrm>
          <a:prstGeom prst="rect">
            <a:avLst/>
          </a:prstGeom>
          <a:noFill/>
        </p:spPr>
        <p:txBody>
          <a:bodyPr wrap="square" anchor="ctr">
            <a:spAutoFit/>
          </a:bodyPr>
          <a:lstStyle/>
          <a:p>
            <a:pPr algn="ctr"/>
            <a:r>
              <a:rPr sz="2000" b="1" i="0">
                <a:solidFill>
                  <a:srgbClr val="FFFFFF"/>
                </a:solidFill>
                <a:latin typeface="Calibri"/>
              </a:rPr>
              <a:t>5</a:t>
            </a:r>
          </a:p>
        </p:txBody>
      </p:sp>
      <p:sp>
        <p:nvSpPr>
          <p:cNvPr id="20" name="TextBox 19"/>
          <p:cNvSpPr txBox="1"/>
          <p:nvPr/>
        </p:nvSpPr>
        <p:spPr>
          <a:xfrm>
            <a:off x="1188720" y="4544568"/>
            <a:ext cx="10241280" cy="685800"/>
          </a:xfrm>
          <a:prstGeom prst="rect">
            <a:avLst/>
          </a:prstGeom>
          <a:noFill/>
        </p:spPr>
        <p:txBody>
          <a:bodyPr wrap="square" anchor="ctr">
            <a:spAutoFit/>
          </a:bodyPr>
          <a:lstStyle/>
          <a:p>
            <a:pPr algn="l"/>
            <a:r>
              <a:rPr sz="1450" b="0" i="0">
                <a:solidFill>
                  <a:srgbClr val="3D3935"/>
                </a:solidFill>
                <a:latin typeface="Calibri"/>
              </a:rPr>
              <a:t>Die-level BSPs roll up to one machine-week BSP, weighted by scheduled hours</a:t>
            </a:r>
          </a:p>
        </p:txBody>
      </p:sp>
      <p:sp>
        <p:nvSpPr>
          <p:cNvPr id="21" name="Rounded Rectangle 20"/>
          <p:cNvSpPr/>
          <p:nvPr/>
        </p:nvSpPr>
        <p:spPr>
          <a:xfrm>
            <a:off x="548640" y="5303520"/>
            <a:ext cx="502920" cy="685800"/>
          </a:xfrm>
          <a:prstGeom prst="roundRect">
            <a:avLst>
              <a:gd name="adj" fmla="val 6000"/>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303520"/>
            <a:ext cx="502920" cy="685800"/>
          </a:xfrm>
          <a:prstGeom prst="rect">
            <a:avLst/>
          </a:prstGeom>
          <a:noFill/>
        </p:spPr>
        <p:txBody>
          <a:bodyPr wrap="square" anchor="ctr">
            <a:spAutoFit/>
          </a:bodyPr>
          <a:lstStyle/>
          <a:p>
            <a:pPr algn="ctr"/>
            <a:r>
              <a:rPr sz="2000" b="1" i="0">
                <a:solidFill>
                  <a:srgbClr val="FFFFFF"/>
                </a:solidFill>
                <a:latin typeface="Calibri"/>
              </a:rPr>
              <a:t>6</a:t>
            </a:r>
          </a:p>
        </p:txBody>
      </p:sp>
      <p:sp>
        <p:nvSpPr>
          <p:cNvPr id="23" name="TextBox 22"/>
          <p:cNvSpPr txBox="1"/>
          <p:nvPr/>
        </p:nvSpPr>
        <p:spPr>
          <a:xfrm>
            <a:off x="1188720" y="5303520"/>
            <a:ext cx="10241280" cy="685800"/>
          </a:xfrm>
          <a:prstGeom prst="rect">
            <a:avLst/>
          </a:prstGeom>
          <a:noFill/>
        </p:spPr>
        <p:txBody>
          <a:bodyPr wrap="square" anchor="ctr">
            <a:spAutoFit/>
          </a:bodyPr>
          <a:lstStyle/>
          <a:p>
            <a:pPr algn="l"/>
            <a:r>
              <a:rPr sz="1450" b="0" i="0">
                <a:solidFill>
                  <a:srgbClr val="3D3935"/>
                </a:solidFill>
                <a:latin typeface="Calibri"/>
              </a:rPr>
              <a:t>Coverage gate: insight only fires if &gt;50% of the week's hours have a resolved BSP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WORKED EXAMPLE</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BSP Step-by-Step — Speed: Finding the Percentile</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852160" cy="1005840"/>
          </a:xfrm>
          <a:prstGeom prst="rect">
            <a:avLst/>
          </a:prstGeom>
          <a:noFill/>
        </p:spPr>
        <p:txBody>
          <a:bodyPr wrap="square">
            <a:spAutoFit/>
          </a:bodyPr>
          <a:lstStyle/>
          <a:p>
            <a:pPr algn="l"/>
            <a:r>
              <a:rPr sz="1300" b="0" i="0">
                <a:solidFill>
                  <a:srgbClr val="3D3935"/>
                </a:solidFill>
                <a:latin typeface="Calibri"/>
              </a:rPr>
              <a:t>This machine + this specific die has 15 qualifying runs (RunHours &gt; 2) over the lookback window. Each run's Speed (sheets produced ÷ run hours) is one data point in the pool.</a:t>
            </a:r>
          </a:p>
        </p:txBody>
      </p:sp>
      <p:sp>
        <p:nvSpPr>
          <p:cNvPr id="7" name="TextBox 6"/>
          <p:cNvSpPr txBox="1"/>
          <p:nvPr/>
        </p:nvSpPr>
        <p:spPr>
          <a:xfrm>
            <a:off x="548640" y="2423160"/>
            <a:ext cx="5852160" cy="1737360"/>
          </a:xfrm>
          <a:prstGeom prst="rect">
            <a:avLst/>
          </a:prstGeom>
          <a:noFill/>
        </p:spPr>
        <p:txBody>
          <a:bodyPr wrap="square">
            <a:spAutoFit/>
          </a:bodyPr>
          <a:lstStyle/>
          <a:p>
            <a:pPr algn="l"/>
            <a:r>
              <a:rPr sz="1300" b="0" i="0">
                <a:solidFill>
                  <a:srgbClr val="3D3935"/>
                </a:solidFill>
                <a:latin typeface="Calibri"/>
              </a:rPr>
              <a:t>Sorted low to high. Speed is a higher-is-better KPI, so BSP takes the 75th percentile — not the highest value (6,100), which could be a one-off. With 15 sorted values, the 75th percentile falls between the 11th value (5,500) and 12th value (5,600), interpolating to 5,550.</a:t>
            </a:r>
          </a:p>
        </p:txBody>
      </p:sp>
      <p:sp>
        <p:nvSpPr>
          <p:cNvPr id="8" name="Rounded Rectangle 7"/>
          <p:cNvSpPr/>
          <p:nvPr/>
        </p:nvSpPr>
        <p:spPr>
          <a:xfrm>
            <a:off x="548640" y="4251960"/>
            <a:ext cx="5852160" cy="169164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389120"/>
            <a:ext cx="5394960" cy="365760"/>
          </a:xfrm>
          <a:prstGeom prst="rect">
            <a:avLst/>
          </a:prstGeom>
          <a:noFill/>
        </p:spPr>
        <p:txBody>
          <a:bodyPr wrap="square">
            <a:spAutoFit/>
          </a:bodyPr>
          <a:lstStyle/>
          <a:p>
            <a:pPr algn="l"/>
            <a:r>
              <a:rPr sz="1400" b="1" i="0">
                <a:solidFill>
                  <a:srgbClr val="006548"/>
                </a:solidFill>
                <a:latin typeface="Calibri"/>
              </a:rPr>
              <a:t>Result</a:t>
            </a:r>
          </a:p>
        </p:txBody>
      </p:sp>
      <p:sp>
        <p:nvSpPr>
          <p:cNvPr id="10" name="TextBox 9"/>
          <p:cNvSpPr txBox="1"/>
          <p:nvPr/>
        </p:nvSpPr>
        <p:spPr>
          <a:xfrm>
            <a:off x="777240" y="4800600"/>
            <a:ext cx="5394960" cy="1005840"/>
          </a:xfrm>
          <a:prstGeom prst="rect">
            <a:avLst/>
          </a:prstGeom>
          <a:noFill/>
        </p:spPr>
        <p:txBody>
          <a:bodyPr wrap="square">
            <a:spAutoFit/>
          </a:bodyPr>
          <a:lstStyle/>
          <a:p>
            <a:pPr algn="l"/>
            <a:r>
              <a:rPr sz="1300" b="0" i="0">
                <a:solidFill>
                  <a:srgbClr val="3D3935"/>
                </a:solidFill>
                <a:latin typeface="Calibri"/>
              </a:rPr>
              <a:t>BSP Speed (Level 1) = 5,550 sheets/hr</a:t>
            </a:r>
          </a:p>
          <a:p>
            <a:pPr algn="l"/>
            <a:r>
              <a:rPr sz="1300" b="0" i="0">
                <a:solidFill>
                  <a:srgbClr val="3D3935"/>
                </a:solidFill>
                <a:latin typeface="Calibri"/>
              </a:rPr>
              <a:t>This is the speed the machine has already sustained across its own best quarter of runs — not its single fastest run.</a:t>
            </a:r>
          </a:p>
        </p:txBody>
      </p:sp>
      <p:graphicFrame>
        <p:nvGraphicFramePr>
          <p:cNvPr id="11" name="Table 10"/>
          <p:cNvGraphicFramePr>
            <a:graphicFrameLocks noGrp="1"/>
          </p:cNvGraphicFramePr>
          <p:nvPr/>
        </p:nvGraphicFramePr>
        <p:xfrm>
          <a:off x="6858000" y="1371600"/>
          <a:ext cx="4800600" cy="4901184"/>
        </p:xfrm>
        <a:graphic>
          <a:graphicData uri="http://schemas.openxmlformats.org/drawingml/2006/table">
            <a:tbl>
              <a:tblPr firstRow="1" bandRow="1">
                <a:tableStyleId>{5C22544A-7EE6-4342-B048-85BDC9FD1C3A}</a:tableStyleId>
              </a:tblPr>
              <a:tblGrid>
                <a:gridCol w="1005840"/>
                <a:gridCol w="3794760"/>
              </a:tblGrid>
              <a:tr h="306324">
                <a:tc>
                  <a:txBody>
                    <a:bodyPr/>
                    <a:lstStyle/>
                    <a:p>
                      <a:r>
                        <a:rPr sz="1150" b="1">
                          <a:solidFill>
                            <a:srgbClr val="FFFFFF"/>
                          </a:solidFill>
                        </a:rPr>
                        <a:t>Rank</a:t>
                      </a:r>
                    </a:p>
                  </a:txBody>
                  <a:tcPr marL="50800" marR="50800" marT="25400" marB="25400" anchor="ctr">
                    <a:solidFill>
                      <a:srgbClr val="006548"/>
                    </a:solidFill>
                  </a:tcPr>
                </a:tc>
                <a:tc>
                  <a:txBody>
                    <a:bodyPr/>
                    <a:lstStyle/>
                    <a:p>
                      <a:r>
                        <a:rPr sz="1150" b="1">
                          <a:solidFill>
                            <a:srgbClr val="FFFFFF"/>
                          </a:solidFill>
                        </a:rPr>
                        <a:t>Speed (sheets/hr)</a:t>
                      </a:r>
                    </a:p>
                  </a:txBody>
                  <a:tcPr marL="50800" marR="50800" marT="25400" marB="25400" anchor="ctr">
                    <a:solidFill>
                      <a:srgbClr val="006548"/>
                    </a:solidFill>
                  </a:tcPr>
                </a:tc>
              </a:tr>
              <a:tr h="306324">
                <a:tc>
                  <a:txBody>
                    <a:bodyPr/>
                    <a:lstStyle/>
                    <a:p>
                      <a:r>
                        <a:rPr sz="1100" b="0">
                          <a:solidFill>
                            <a:srgbClr val="3D3935"/>
                          </a:solidFill>
                        </a:rPr>
                        <a:t>1</a:t>
                      </a:r>
                    </a:p>
                  </a:txBody>
                  <a:tcPr marL="50800" marR="50800" marT="25400" marB="25400" anchor="ctr">
                    <a:solidFill>
                      <a:srgbClr val="FFFFFF"/>
                    </a:solidFill>
                  </a:tcPr>
                </a:tc>
                <a:tc>
                  <a:txBody>
                    <a:bodyPr/>
                    <a:lstStyle/>
                    <a:p>
                      <a:r>
                        <a:rPr sz="1100" b="0">
                          <a:solidFill>
                            <a:srgbClr val="3D3935"/>
                          </a:solidFill>
                        </a:rPr>
                        <a:t>4,800</a:t>
                      </a:r>
                    </a:p>
                  </a:txBody>
                  <a:tcPr marL="50800" marR="50800" marT="25400" marB="25400" anchor="ctr">
                    <a:solidFill>
                      <a:srgbClr val="FFFFFF"/>
                    </a:solidFill>
                  </a:tcPr>
                </a:tc>
              </a:tr>
              <a:tr h="306324">
                <a:tc>
                  <a:txBody>
                    <a:bodyPr/>
                    <a:lstStyle/>
                    <a:p>
                      <a:r>
                        <a:rPr sz="1100" b="0">
                          <a:solidFill>
                            <a:srgbClr val="3D3935"/>
                          </a:solidFill>
                        </a:rPr>
                        <a:t>2</a:t>
                      </a:r>
                    </a:p>
                  </a:txBody>
                  <a:tcPr marL="50800" marR="50800" marT="25400" marB="25400" anchor="ctr">
                    <a:solidFill>
                      <a:srgbClr val="EAF2E2"/>
                    </a:solidFill>
                  </a:tcPr>
                </a:tc>
                <a:tc>
                  <a:txBody>
                    <a:bodyPr/>
                    <a:lstStyle/>
                    <a:p>
                      <a:r>
                        <a:rPr sz="1100" b="0">
                          <a:solidFill>
                            <a:srgbClr val="3D3935"/>
                          </a:solidFill>
                        </a:rPr>
                        <a:t>4,850</a:t>
                      </a:r>
                    </a:p>
                  </a:txBody>
                  <a:tcPr marL="50800" marR="50800" marT="25400" marB="25400" anchor="ctr">
                    <a:solidFill>
                      <a:srgbClr val="EAF2E2"/>
                    </a:solidFill>
                  </a:tcPr>
                </a:tc>
              </a:tr>
              <a:tr h="306324">
                <a:tc>
                  <a:txBody>
                    <a:bodyPr/>
                    <a:lstStyle/>
                    <a:p>
                      <a:r>
                        <a:rPr sz="1100" b="0">
                          <a:solidFill>
                            <a:srgbClr val="3D3935"/>
                          </a:solidFill>
                        </a:rPr>
                        <a:t>3</a:t>
                      </a:r>
                    </a:p>
                  </a:txBody>
                  <a:tcPr marL="50800" marR="50800" marT="25400" marB="25400" anchor="ctr">
                    <a:solidFill>
                      <a:srgbClr val="FFFFFF"/>
                    </a:solidFill>
                  </a:tcPr>
                </a:tc>
                <a:tc>
                  <a:txBody>
                    <a:bodyPr/>
                    <a:lstStyle/>
                    <a:p>
                      <a:r>
                        <a:rPr sz="1100" b="0">
                          <a:solidFill>
                            <a:srgbClr val="3D3935"/>
                          </a:solidFill>
                        </a:rPr>
                        <a:t>4,900</a:t>
                      </a:r>
                    </a:p>
                  </a:txBody>
                  <a:tcPr marL="50800" marR="50800" marT="25400" marB="25400" anchor="ctr">
                    <a:solidFill>
                      <a:srgbClr val="FFFFFF"/>
                    </a:solidFill>
                  </a:tcPr>
                </a:tc>
              </a:tr>
              <a:tr h="306324">
                <a:tc>
                  <a:txBody>
                    <a:bodyPr/>
                    <a:lstStyle/>
                    <a:p>
                      <a:r>
                        <a:rPr sz="1100" b="0">
                          <a:solidFill>
                            <a:srgbClr val="3D3935"/>
                          </a:solidFill>
                        </a:rPr>
                        <a:t>4</a:t>
                      </a:r>
                    </a:p>
                  </a:txBody>
                  <a:tcPr marL="50800" marR="50800" marT="25400" marB="25400" anchor="ctr">
                    <a:solidFill>
                      <a:srgbClr val="EAF2E2"/>
                    </a:solidFill>
                  </a:tcPr>
                </a:tc>
                <a:tc>
                  <a:txBody>
                    <a:bodyPr/>
                    <a:lstStyle/>
                    <a:p>
                      <a:r>
                        <a:rPr sz="1100" b="0">
                          <a:solidFill>
                            <a:srgbClr val="3D3935"/>
                          </a:solidFill>
                        </a:rPr>
                        <a:t>5,000</a:t>
                      </a:r>
                    </a:p>
                  </a:txBody>
                  <a:tcPr marL="50800" marR="50800" marT="25400" marB="25400" anchor="ctr">
                    <a:solidFill>
                      <a:srgbClr val="EAF2E2"/>
                    </a:solidFill>
                  </a:tcPr>
                </a:tc>
              </a:tr>
              <a:tr h="306324">
                <a:tc>
                  <a:txBody>
                    <a:bodyPr/>
                    <a:lstStyle/>
                    <a:p>
                      <a:r>
                        <a:rPr sz="1100" b="0">
                          <a:solidFill>
                            <a:srgbClr val="3D3935"/>
                          </a:solidFill>
                        </a:rPr>
                        <a:t>5</a:t>
                      </a:r>
                    </a:p>
                  </a:txBody>
                  <a:tcPr marL="50800" marR="50800" marT="25400" marB="25400" anchor="ctr">
                    <a:solidFill>
                      <a:srgbClr val="FFFFFF"/>
                    </a:solidFill>
                  </a:tcPr>
                </a:tc>
                <a:tc>
                  <a:txBody>
                    <a:bodyPr/>
                    <a:lstStyle/>
                    <a:p>
                      <a:r>
                        <a:rPr sz="1100" b="0">
                          <a:solidFill>
                            <a:srgbClr val="3D3935"/>
                          </a:solidFill>
                        </a:rPr>
                        <a:t>5,050</a:t>
                      </a:r>
                    </a:p>
                  </a:txBody>
                  <a:tcPr marL="50800" marR="50800" marT="25400" marB="25400" anchor="ctr">
                    <a:solidFill>
                      <a:srgbClr val="FFFFFF"/>
                    </a:solidFill>
                  </a:tcPr>
                </a:tc>
              </a:tr>
              <a:tr h="306324">
                <a:tc>
                  <a:txBody>
                    <a:bodyPr/>
                    <a:lstStyle/>
                    <a:p>
                      <a:r>
                        <a:rPr sz="1100" b="0">
                          <a:solidFill>
                            <a:srgbClr val="3D3935"/>
                          </a:solidFill>
                        </a:rPr>
                        <a:t>6</a:t>
                      </a:r>
                    </a:p>
                  </a:txBody>
                  <a:tcPr marL="50800" marR="50800" marT="25400" marB="25400" anchor="ctr">
                    <a:solidFill>
                      <a:srgbClr val="EAF2E2"/>
                    </a:solidFill>
                  </a:tcPr>
                </a:tc>
                <a:tc>
                  <a:txBody>
                    <a:bodyPr/>
                    <a:lstStyle/>
                    <a:p>
                      <a:r>
                        <a:rPr sz="1100" b="0">
                          <a:solidFill>
                            <a:srgbClr val="3D3935"/>
                          </a:solidFill>
                        </a:rPr>
                        <a:t>5,100</a:t>
                      </a:r>
                    </a:p>
                  </a:txBody>
                  <a:tcPr marL="50800" marR="50800" marT="25400" marB="25400" anchor="ctr">
                    <a:solidFill>
                      <a:srgbClr val="EAF2E2"/>
                    </a:solidFill>
                  </a:tcPr>
                </a:tc>
              </a:tr>
              <a:tr h="306324">
                <a:tc>
                  <a:txBody>
                    <a:bodyPr/>
                    <a:lstStyle/>
                    <a:p>
                      <a:r>
                        <a:rPr sz="1100" b="0">
                          <a:solidFill>
                            <a:srgbClr val="3D3935"/>
                          </a:solidFill>
                        </a:rPr>
                        <a:t>7</a:t>
                      </a:r>
                    </a:p>
                  </a:txBody>
                  <a:tcPr marL="50800" marR="50800" marT="25400" marB="25400" anchor="ctr">
                    <a:solidFill>
                      <a:srgbClr val="FFFFFF"/>
                    </a:solidFill>
                  </a:tcPr>
                </a:tc>
                <a:tc>
                  <a:txBody>
                    <a:bodyPr/>
                    <a:lstStyle/>
                    <a:p>
                      <a:r>
                        <a:rPr sz="1100" b="0">
                          <a:solidFill>
                            <a:srgbClr val="3D3935"/>
                          </a:solidFill>
                        </a:rPr>
                        <a:t>5,150</a:t>
                      </a:r>
                    </a:p>
                  </a:txBody>
                  <a:tcPr marL="50800" marR="50800" marT="25400" marB="25400" anchor="ctr">
                    <a:solidFill>
                      <a:srgbClr val="FFFFFF"/>
                    </a:solidFill>
                  </a:tcPr>
                </a:tc>
              </a:tr>
              <a:tr h="306324">
                <a:tc>
                  <a:txBody>
                    <a:bodyPr/>
                    <a:lstStyle/>
                    <a:p>
                      <a:r>
                        <a:rPr sz="1100" b="0">
                          <a:solidFill>
                            <a:srgbClr val="3D3935"/>
                          </a:solidFill>
                        </a:rPr>
                        <a:t>8</a:t>
                      </a:r>
                    </a:p>
                  </a:txBody>
                  <a:tcPr marL="50800" marR="50800" marT="25400" marB="25400" anchor="ctr">
                    <a:solidFill>
                      <a:srgbClr val="EAF2E2"/>
                    </a:solidFill>
                  </a:tcPr>
                </a:tc>
                <a:tc>
                  <a:txBody>
                    <a:bodyPr/>
                    <a:lstStyle/>
                    <a:p>
                      <a:r>
                        <a:rPr sz="1100" b="0">
                          <a:solidFill>
                            <a:srgbClr val="3D3935"/>
                          </a:solidFill>
                        </a:rPr>
                        <a:t>5,200</a:t>
                      </a:r>
                    </a:p>
                  </a:txBody>
                  <a:tcPr marL="50800" marR="50800" marT="25400" marB="25400" anchor="ctr">
                    <a:solidFill>
                      <a:srgbClr val="EAF2E2"/>
                    </a:solidFill>
                  </a:tcPr>
                </a:tc>
              </a:tr>
              <a:tr h="306324">
                <a:tc>
                  <a:txBody>
                    <a:bodyPr/>
                    <a:lstStyle/>
                    <a:p>
                      <a:r>
                        <a:rPr sz="1100" b="0">
                          <a:solidFill>
                            <a:srgbClr val="3D3935"/>
                          </a:solidFill>
                        </a:rPr>
                        <a:t>9</a:t>
                      </a:r>
                    </a:p>
                  </a:txBody>
                  <a:tcPr marL="50800" marR="50800" marT="25400" marB="25400" anchor="ctr">
                    <a:solidFill>
                      <a:srgbClr val="FFFFFF"/>
                    </a:solidFill>
                  </a:tcPr>
                </a:tc>
                <a:tc>
                  <a:txBody>
                    <a:bodyPr/>
                    <a:lstStyle/>
                    <a:p>
                      <a:r>
                        <a:rPr sz="1100" b="0">
                          <a:solidFill>
                            <a:srgbClr val="3D3935"/>
                          </a:solidFill>
                        </a:rPr>
                        <a:t>5,300</a:t>
                      </a:r>
                    </a:p>
                  </a:txBody>
                  <a:tcPr marL="50800" marR="50800" marT="25400" marB="25400" anchor="ctr">
                    <a:solidFill>
                      <a:srgbClr val="FFFFFF"/>
                    </a:solidFill>
                  </a:tcPr>
                </a:tc>
              </a:tr>
              <a:tr h="306324">
                <a:tc>
                  <a:txBody>
                    <a:bodyPr/>
                    <a:lstStyle/>
                    <a:p>
                      <a:r>
                        <a:rPr sz="1100" b="0">
                          <a:solidFill>
                            <a:srgbClr val="3D3935"/>
                          </a:solidFill>
                        </a:rPr>
                        <a:t>10</a:t>
                      </a:r>
                    </a:p>
                  </a:txBody>
                  <a:tcPr marL="50800" marR="50800" marT="25400" marB="25400" anchor="ctr">
                    <a:solidFill>
                      <a:srgbClr val="EAF2E2"/>
                    </a:solidFill>
                  </a:tcPr>
                </a:tc>
                <a:tc>
                  <a:txBody>
                    <a:bodyPr/>
                    <a:lstStyle/>
                    <a:p>
                      <a:r>
                        <a:rPr sz="1100" b="0">
                          <a:solidFill>
                            <a:srgbClr val="3D3935"/>
                          </a:solidFill>
                        </a:rPr>
                        <a:t>5,400</a:t>
                      </a:r>
                    </a:p>
                  </a:txBody>
                  <a:tcPr marL="50800" marR="50800" marT="25400" marB="25400" anchor="ctr">
                    <a:solidFill>
                      <a:srgbClr val="EAF2E2"/>
                    </a:solidFill>
                  </a:tcPr>
                </a:tc>
              </a:tr>
              <a:tr h="306324">
                <a:tc>
                  <a:txBody>
                    <a:bodyPr/>
                    <a:lstStyle/>
                    <a:p>
                      <a:r>
                        <a:rPr sz="1100" b="0">
                          <a:solidFill>
                            <a:srgbClr val="3D3935"/>
                          </a:solidFill>
                        </a:rPr>
                        <a:t>11</a:t>
                      </a:r>
                    </a:p>
                  </a:txBody>
                  <a:tcPr marL="50800" marR="50800" marT="25400" marB="25400" anchor="ctr">
                    <a:solidFill>
                      <a:srgbClr val="D9ECB2"/>
                    </a:solidFill>
                  </a:tcPr>
                </a:tc>
                <a:tc>
                  <a:txBody>
                    <a:bodyPr/>
                    <a:lstStyle/>
                    <a:p>
                      <a:r>
                        <a:rPr sz="1100" b="0">
                          <a:solidFill>
                            <a:srgbClr val="3D3935"/>
                          </a:solidFill>
                        </a:rPr>
                        <a:t>5,500  ← P75 zone</a:t>
                      </a:r>
                    </a:p>
                  </a:txBody>
                  <a:tcPr marL="50800" marR="50800" marT="25400" marB="25400" anchor="ctr">
                    <a:solidFill>
                      <a:srgbClr val="D9ECB2"/>
                    </a:solidFill>
                  </a:tcPr>
                </a:tc>
              </a:tr>
              <a:tr h="306324">
                <a:tc>
                  <a:txBody>
                    <a:bodyPr/>
                    <a:lstStyle/>
                    <a:p>
                      <a:r>
                        <a:rPr sz="1100" b="0">
                          <a:solidFill>
                            <a:srgbClr val="3D3935"/>
                          </a:solidFill>
                        </a:rPr>
                        <a:t>12</a:t>
                      </a:r>
                    </a:p>
                  </a:txBody>
                  <a:tcPr marL="50800" marR="50800" marT="25400" marB="25400" anchor="ctr">
                    <a:solidFill>
                      <a:srgbClr val="D9ECB2"/>
                    </a:solidFill>
                  </a:tcPr>
                </a:tc>
                <a:tc>
                  <a:txBody>
                    <a:bodyPr/>
                    <a:lstStyle/>
                    <a:p>
                      <a:r>
                        <a:rPr sz="1100" b="0">
                          <a:solidFill>
                            <a:srgbClr val="3D3935"/>
                          </a:solidFill>
                        </a:rPr>
                        <a:t>5,600  ← P75 zone</a:t>
                      </a:r>
                    </a:p>
                  </a:txBody>
                  <a:tcPr marL="50800" marR="50800" marT="25400" marB="25400" anchor="ctr">
                    <a:solidFill>
                      <a:srgbClr val="D9ECB2"/>
                    </a:solidFill>
                  </a:tcPr>
                </a:tc>
              </a:tr>
              <a:tr h="306324">
                <a:tc>
                  <a:txBody>
                    <a:bodyPr/>
                    <a:lstStyle/>
                    <a:p>
                      <a:r>
                        <a:rPr sz="1100" b="0">
                          <a:solidFill>
                            <a:srgbClr val="3D3935"/>
                          </a:solidFill>
                        </a:rPr>
                        <a:t>13</a:t>
                      </a:r>
                    </a:p>
                  </a:txBody>
                  <a:tcPr marL="50800" marR="50800" marT="25400" marB="25400" anchor="ctr">
                    <a:solidFill>
                      <a:srgbClr val="FFFFFF"/>
                    </a:solidFill>
                  </a:tcPr>
                </a:tc>
                <a:tc>
                  <a:txBody>
                    <a:bodyPr/>
                    <a:lstStyle/>
                    <a:p>
                      <a:r>
                        <a:rPr sz="1100" b="0">
                          <a:solidFill>
                            <a:srgbClr val="3D3935"/>
                          </a:solidFill>
                        </a:rPr>
                        <a:t>5,700</a:t>
                      </a:r>
                    </a:p>
                  </a:txBody>
                  <a:tcPr marL="50800" marR="50800" marT="25400" marB="25400" anchor="ctr">
                    <a:solidFill>
                      <a:srgbClr val="FFFFFF"/>
                    </a:solidFill>
                  </a:tcPr>
                </a:tc>
              </a:tr>
              <a:tr h="306324">
                <a:tc>
                  <a:txBody>
                    <a:bodyPr/>
                    <a:lstStyle/>
                    <a:p>
                      <a:r>
                        <a:rPr sz="1100" b="0">
                          <a:solidFill>
                            <a:srgbClr val="3D3935"/>
                          </a:solidFill>
                        </a:rPr>
                        <a:t>14</a:t>
                      </a:r>
                    </a:p>
                  </a:txBody>
                  <a:tcPr marL="50800" marR="50800" marT="25400" marB="25400" anchor="ctr">
                    <a:solidFill>
                      <a:srgbClr val="EAF2E2"/>
                    </a:solidFill>
                  </a:tcPr>
                </a:tc>
                <a:tc>
                  <a:txBody>
                    <a:bodyPr/>
                    <a:lstStyle/>
                    <a:p>
                      <a:r>
                        <a:rPr sz="1100" b="0">
                          <a:solidFill>
                            <a:srgbClr val="3D3935"/>
                          </a:solidFill>
                        </a:rPr>
                        <a:t>5,900</a:t>
                      </a:r>
                    </a:p>
                  </a:txBody>
                  <a:tcPr marL="50800" marR="50800" marT="25400" marB="25400" anchor="ctr">
                    <a:solidFill>
                      <a:srgbClr val="EAF2E2"/>
                    </a:solidFill>
                  </a:tcPr>
                </a:tc>
              </a:tr>
              <a:tr h="306324">
                <a:tc>
                  <a:txBody>
                    <a:bodyPr/>
                    <a:lstStyle/>
                    <a:p>
                      <a:r>
                        <a:rPr sz="1100" b="0">
                          <a:solidFill>
                            <a:srgbClr val="3D3935"/>
                          </a:solidFill>
                        </a:rPr>
                        <a:t>15</a:t>
                      </a:r>
                    </a:p>
                  </a:txBody>
                  <a:tcPr marL="50800" marR="50800" marT="25400" marB="25400" anchor="ctr">
                    <a:solidFill>
                      <a:srgbClr val="FFFFFF"/>
                    </a:solidFill>
                  </a:tcPr>
                </a:tc>
                <a:tc>
                  <a:txBody>
                    <a:bodyPr/>
                    <a:lstStyle/>
                    <a:p>
                      <a:r>
                        <a:rPr sz="1100" b="0">
                          <a:solidFill>
                            <a:srgbClr val="3D3935"/>
                          </a:solidFill>
                        </a:rPr>
                        <a:t>6,100</a:t>
                      </a:r>
                    </a:p>
                  </a:txBody>
                  <a:tcPr marL="50800" marR="50800" marT="25400" marB="2540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WORKED EXAMPLE</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BSP Step-by-Step — Speed: Level Fallback &amp; Sheet Gap</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64240" cy="365760"/>
          </a:xfrm>
          <a:prstGeom prst="rect">
            <a:avLst/>
          </a:prstGeom>
          <a:noFill/>
        </p:spPr>
        <p:txBody>
          <a:bodyPr wrap="square">
            <a:spAutoFit/>
          </a:bodyPr>
          <a:lstStyle/>
          <a:p>
            <a:pPr algn="l"/>
            <a:r>
              <a:rPr sz="1400" b="1" i="0">
                <a:solidFill>
                  <a:srgbClr val="006548"/>
                </a:solidFill>
                <a:latin typeface="Calibri"/>
              </a:rPr>
              <a:t>This week, Level 1 had exactly enough runs and resolved directly:</a:t>
            </a:r>
          </a:p>
        </p:txBody>
      </p:sp>
      <p:graphicFrame>
        <p:nvGraphicFramePr>
          <p:cNvPr id="7" name="Table 6"/>
          <p:cNvGraphicFramePr>
            <a:graphicFrameLocks noGrp="1"/>
          </p:cNvGraphicFramePr>
          <p:nvPr/>
        </p:nvGraphicFramePr>
        <p:xfrm>
          <a:off x="548640" y="1828800"/>
          <a:ext cx="11064239" cy="1536192"/>
        </p:xfrm>
        <a:graphic>
          <a:graphicData uri="http://schemas.openxmlformats.org/drawingml/2006/table">
            <a:tbl>
              <a:tblPr firstRow="1" bandRow="1">
                <a:tableStyleId>{5C22544A-7EE6-4342-B048-85BDC9FD1C3A}</a:tableStyleId>
              </a:tblPr>
              <a:tblGrid>
                <a:gridCol w="2286000"/>
                <a:gridCol w="3749039"/>
                <a:gridCol w="1828800"/>
                <a:gridCol w="1645920"/>
                <a:gridCol w="1554480"/>
              </a:tblGrid>
              <a:tr h="384048">
                <a:tc>
                  <a:txBody>
                    <a:bodyPr/>
                    <a:lstStyle/>
                    <a:p>
                      <a:r>
                        <a:rPr sz="1200" b="1">
                          <a:solidFill>
                            <a:srgbClr val="FFFFFF"/>
                          </a:solidFill>
                        </a:rPr>
                        <a:t>Level</a:t>
                      </a:r>
                    </a:p>
                  </a:txBody>
                  <a:tcPr marL="50800" marR="50800" marT="25400" marB="25400" anchor="ctr">
                    <a:solidFill>
                      <a:srgbClr val="006548"/>
                    </a:solidFill>
                  </a:tcPr>
                </a:tc>
                <a:tc>
                  <a:txBody>
                    <a:bodyPr/>
                    <a:lstStyle/>
                    <a:p>
                      <a:r>
                        <a:rPr sz="1200" b="1">
                          <a:solidFill>
                            <a:srgbClr val="FFFFFF"/>
                          </a:solidFill>
                        </a:rPr>
                        <a:t>Grain</a:t>
                      </a:r>
                    </a:p>
                  </a:txBody>
                  <a:tcPr marL="50800" marR="50800" marT="25400" marB="25400" anchor="ctr">
                    <a:solidFill>
                      <a:srgbClr val="006548"/>
                    </a:solidFill>
                  </a:tcPr>
                </a:tc>
                <a:tc>
                  <a:txBody>
                    <a:bodyPr/>
                    <a:lstStyle/>
                    <a:p>
                      <a:r>
                        <a:rPr sz="1200" b="1">
                          <a:solidFill>
                            <a:srgbClr val="FFFFFF"/>
                          </a:solidFill>
                        </a:rPr>
                        <a:t>Qualifying Runs</a:t>
                      </a:r>
                    </a:p>
                  </a:txBody>
                  <a:tcPr marL="50800" marR="50800" marT="25400" marB="25400" anchor="ctr">
                    <a:solidFill>
                      <a:srgbClr val="006548"/>
                    </a:solidFill>
                  </a:tcPr>
                </a:tc>
                <a:tc>
                  <a:txBody>
                    <a:bodyPr/>
                    <a:lstStyle/>
                    <a:p>
                      <a:r>
                        <a:rPr sz="1200" b="1">
                          <a:solidFill>
                            <a:srgbClr val="FFFFFF"/>
                          </a:solidFill>
                        </a:rPr>
                        <a:t>Minimum Needed</a:t>
                      </a:r>
                    </a:p>
                  </a:txBody>
                  <a:tcPr marL="50800" marR="50800" marT="25400" marB="25400" anchor="ctr">
                    <a:solidFill>
                      <a:srgbClr val="006548"/>
                    </a:solidFill>
                  </a:tcPr>
                </a:tc>
                <a:tc>
                  <a:txBody>
                    <a:bodyPr/>
                    <a:lstStyle/>
                    <a:p>
                      <a:r>
                        <a:rPr sz="1200" b="1">
                          <a:solidFill>
                            <a:srgbClr val="FFFFFF"/>
                          </a:solidFill>
                        </a:rPr>
                        <a:t>Resolved?</a:t>
                      </a:r>
                    </a:p>
                  </a:txBody>
                  <a:tcPr marL="50800" marR="50800" marT="25400" marB="25400" anchor="ctr">
                    <a:solidFill>
                      <a:srgbClr val="006548"/>
                    </a:solidFill>
                  </a:tcPr>
                </a:tc>
              </a:tr>
              <a:tr h="384048">
                <a:tc>
                  <a:txBody>
                    <a:bodyPr/>
                    <a:lstStyle/>
                    <a:p>
                      <a:r>
                        <a:rPr sz="1150" b="0">
                          <a:solidFill>
                            <a:srgbClr val="3D3935"/>
                          </a:solidFill>
                        </a:rPr>
                        <a:t>Level 1 — Die-specific</a:t>
                      </a:r>
                    </a:p>
                  </a:txBody>
                  <a:tcPr marL="50800" marR="50800" marT="25400" marB="25400" anchor="ctr">
                    <a:solidFill>
                      <a:srgbClr val="FFFFFF"/>
                    </a:solidFill>
                  </a:tcPr>
                </a:tc>
                <a:tc>
                  <a:txBody>
                    <a:bodyPr/>
                    <a:lstStyle/>
                    <a:p>
                      <a:r>
                        <a:rPr sz="1150" b="0">
                          <a:solidFill>
                            <a:srgbClr val="3D3935"/>
                          </a:solidFill>
                        </a:rPr>
                        <a:t>This machine + this exact die</a:t>
                      </a:r>
                    </a:p>
                  </a:txBody>
                  <a:tcPr marL="50800" marR="50800" marT="25400" marB="25400" anchor="ctr">
                    <a:solidFill>
                      <a:srgbClr val="FFFFFF"/>
                    </a:solidFill>
                  </a:tcPr>
                </a:tc>
                <a:tc>
                  <a:txBody>
                    <a:bodyPr/>
                    <a:lstStyle/>
                    <a:p>
                      <a:r>
                        <a:rPr sz="1150" b="0">
                          <a:solidFill>
                            <a:srgbClr val="3D3935"/>
                          </a:solidFill>
                        </a:rPr>
                        <a:t>15</a:t>
                      </a:r>
                    </a:p>
                  </a:txBody>
                  <a:tcPr marL="50800" marR="50800" marT="25400" marB="25400" anchor="ctr">
                    <a:solidFill>
                      <a:srgbClr val="FFFFFF"/>
                    </a:solidFill>
                  </a:tcPr>
                </a:tc>
                <a:tc>
                  <a:txBody>
                    <a:bodyPr/>
                    <a:lstStyle/>
                    <a:p>
                      <a:r>
                        <a:rPr sz="1150" b="0">
                          <a:solidFill>
                            <a:srgbClr val="3D3935"/>
                          </a:solidFill>
                        </a:rPr>
                        <a:t>15</a:t>
                      </a:r>
                    </a:p>
                  </a:txBody>
                  <a:tcPr marL="50800" marR="50800" marT="25400" marB="25400" anchor="ctr">
                    <a:solidFill>
                      <a:srgbClr val="FFFFFF"/>
                    </a:solidFill>
                  </a:tcPr>
                </a:tc>
                <a:tc>
                  <a:txBody>
                    <a:bodyPr/>
                    <a:lstStyle/>
                    <a:p>
                      <a:r>
                        <a:rPr sz="1150" b="0">
                          <a:solidFill>
                            <a:srgbClr val="3D3935"/>
                          </a:solidFill>
                        </a:rPr>
                        <a:t>Yes</a:t>
                      </a:r>
                    </a:p>
                  </a:txBody>
                  <a:tcPr marL="50800" marR="50800" marT="25400" marB="25400" anchor="ctr">
                    <a:solidFill>
                      <a:srgbClr val="FFFFFF"/>
                    </a:solidFill>
                  </a:tcPr>
                </a:tc>
              </a:tr>
              <a:tr h="384048">
                <a:tc>
                  <a:txBody>
                    <a:bodyPr/>
                    <a:lstStyle/>
                    <a:p>
                      <a:r>
                        <a:rPr sz="1150" b="0">
                          <a:solidFill>
                            <a:srgbClr val="3D3935"/>
                          </a:solidFill>
                        </a:rPr>
                        <a:t>Level 2 — Board-specific</a:t>
                      </a:r>
                    </a:p>
                  </a:txBody>
                  <a:tcPr marL="50800" marR="50800" marT="25400" marB="25400" anchor="ctr">
                    <a:solidFill>
                      <a:srgbClr val="EAF2E2"/>
                    </a:solidFill>
                  </a:tcPr>
                </a:tc>
                <a:tc>
                  <a:txBody>
                    <a:bodyPr/>
                    <a:lstStyle/>
                    <a:p>
                      <a:r>
                        <a:rPr sz="1150" b="0">
                          <a:solidFill>
                            <a:srgbClr val="3D3935"/>
                          </a:solidFill>
                        </a:rPr>
                        <a:t>This machine + board type/caliper</a:t>
                      </a:r>
                    </a:p>
                  </a:txBody>
                  <a:tcPr marL="50800" marR="50800" marT="25400" marB="25400" anchor="ctr">
                    <a:solidFill>
                      <a:srgbClr val="EAF2E2"/>
                    </a:solidFill>
                  </a:tcPr>
                </a:tc>
                <a:tc>
                  <a:txBody>
                    <a:bodyPr/>
                    <a:lstStyle/>
                    <a:p>
                      <a:r>
                        <a:rPr sz="1150" b="0">
                          <a:solidFill>
                            <a:srgbClr val="3D3935"/>
                          </a:solidFill>
                        </a:rPr>
                        <a:t>(not needed)</a:t>
                      </a:r>
                    </a:p>
                  </a:txBody>
                  <a:tcPr marL="50800" marR="50800" marT="25400" marB="25400" anchor="ctr">
                    <a:solidFill>
                      <a:srgbClr val="EAF2E2"/>
                    </a:solidFill>
                  </a:tcPr>
                </a:tc>
                <a:tc>
                  <a:txBody>
                    <a:bodyPr/>
                    <a:lstStyle/>
                    <a:p>
                      <a:r>
                        <a:rPr sz="1150" b="0">
                          <a:solidFill>
                            <a:srgbClr val="3D3935"/>
                          </a:solidFill>
                        </a:rPr>
                        <a:t>25</a:t>
                      </a:r>
                    </a:p>
                  </a:txBody>
                  <a:tcPr marL="50800" marR="50800" marT="25400" marB="25400" anchor="ctr">
                    <a:solidFill>
                      <a:srgbClr val="EAF2E2"/>
                    </a:solidFill>
                  </a:tcPr>
                </a:tc>
                <a:tc>
                  <a:txBody>
                    <a:bodyPr/>
                    <a:lstStyle/>
                    <a:p>
                      <a:r>
                        <a:rPr sz="1150" b="0">
                          <a:solidFill>
                            <a:srgbClr val="3D3935"/>
                          </a:solidFill>
                        </a:rPr>
                        <a:t>n/a</a:t>
                      </a:r>
                    </a:p>
                  </a:txBody>
                  <a:tcPr marL="50800" marR="50800" marT="25400" marB="25400" anchor="ctr">
                    <a:solidFill>
                      <a:srgbClr val="EAF2E2"/>
                    </a:solidFill>
                  </a:tcPr>
                </a:tc>
              </a:tr>
              <a:tr h="384048">
                <a:tc>
                  <a:txBody>
                    <a:bodyPr/>
                    <a:lstStyle/>
                    <a:p>
                      <a:r>
                        <a:rPr sz="1150" b="0">
                          <a:solidFill>
                            <a:srgbClr val="3D3935"/>
                          </a:solidFill>
                        </a:rPr>
                        <a:t>Level 3 — Machine-level</a:t>
                      </a:r>
                    </a:p>
                  </a:txBody>
                  <a:tcPr marL="50800" marR="50800" marT="25400" marB="25400" anchor="ctr">
                    <a:solidFill>
                      <a:srgbClr val="FFFFFF"/>
                    </a:solidFill>
                  </a:tcPr>
                </a:tc>
                <a:tc>
                  <a:txBody>
                    <a:bodyPr/>
                    <a:lstStyle/>
                    <a:p>
                      <a:r>
                        <a:rPr sz="1150" b="0">
                          <a:solidFill>
                            <a:srgbClr val="3D3935"/>
                          </a:solidFill>
                        </a:rPr>
                        <a:t>This machine, all products</a:t>
                      </a:r>
                    </a:p>
                  </a:txBody>
                  <a:tcPr marL="50800" marR="50800" marT="25400" marB="25400" anchor="ctr">
                    <a:solidFill>
                      <a:srgbClr val="FFFFFF"/>
                    </a:solidFill>
                  </a:tcPr>
                </a:tc>
                <a:tc>
                  <a:txBody>
                    <a:bodyPr/>
                    <a:lstStyle/>
                    <a:p>
                      <a:r>
                        <a:rPr sz="1150" b="0">
                          <a:solidFill>
                            <a:srgbClr val="3D3935"/>
                          </a:solidFill>
                        </a:rPr>
                        <a:t>(not needed)</a:t>
                      </a:r>
                    </a:p>
                  </a:txBody>
                  <a:tcPr marL="50800" marR="50800" marT="25400" marB="25400" anchor="ctr">
                    <a:solidFill>
                      <a:srgbClr val="FFFFFF"/>
                    </a:solidFill>
                  </a:tcPr>
                </a:tc>
                <a:tc>
                  <a:txBody>
                    <a:bodyPr/>
                    <a:lstStyle/>
                    <a:p>
                      <a:r>
                        <a:rPr sz="1150" b="0">
                          <a:solidFill>
                            <a:srgbClr val="3D3935"/>
                          </a:solidFill>
                        </a:rPr>
                        <a:t>35</a:t>
                      </a:r>
                    </a:p>
                  </a:txBody>
                  <a:tcPr marL="50800" marR="50800" marT="25400" marB="25400" anchor="ctr">
                    <a:solidFill>
                      <a:srgbClr val="FFFFFF"/>
                    </a:solidFill>
                  </a:tcPr>
                </a:tc>
                <a:tc>
                  <a:txBody>
                    <a:bodyPr/>
                    <a:lstStyle/>
                    <a:p>
                      <a:r>
                        <a:rPr sz="1150" b="0">
                          <a:solidFill>
                            <a:srgbClr val="3D3935"/>
                          </a:solidFill>
                        </a:rPr>
                        <a:t>n/a</a:t>
                      </a:r>
                    </a:p>
                  </a:txBody>
                  <a:tcPr marL="50800" marR="50800" marT="25400" marB="25400" anchor="ctr">
                    <a:solidFill>
                      <a:srgbClr val="FFFFFF"/>
                    </a:solidFill>
                  </a:tcPr>
                </a:tc>
              </a:tr>
            </a:tbl>
          </a:graphicData>
        </a:graphic>
      </p:graphicFrame>
      <p:sp>
        <p:nvSpPr>
          <p:cNvPr id="8" name="TextBox 7"/>
          <p:cNvSpPr txBox="1"/>
          <p:nvPr/>
        </p:nvSpPr>
        <p:spPr>
          <a:xfrm>
            <a:off x="548640" y="3566160"/>
            <a:ext cx="11064240" cy="548640"/>
          </a:xfrm>
          <a:prstGeom prst="rect">
            <a:avLst/>
          </a:prstGeom>
          <a:noFill/>
        </p:spPr>
        <p:txBody>
          <a:bodyPr wrap="square">
            <a:spAutoFit/>
          </a:bodyPr>
          <a:lstStyle/>
          <a:p>
            <a:pPr algn="l"/>
            <a:r>
              <a:rPr sz="1250" b="0" i="1">
                <a:solidFill>
                  <a:srgbClr val="74706C"/>
                </a:solidFill>
                <a:latin typeface="Calibri"/>
              </a:rPr>
              <a:t>Level 1 has exactly the 15 runs required, so it resolves — no fallback to Level 2 or Level 3 is needed this week. BSP Speed = 5,550 sheets/hr, confidence = HIGH.</a:t>
            </a:r>
          </a:p>
        </p:txBody>
      </p:sp>
      <p:sp>
        <p:nvSpPr>
          <p:cNvPr id="9" name="Rounded Rectangle 8"/>
          <p:cNvSpPr/>
          <p:nvPr/>
        </p:nvSpPr>
        <p:spPr>
          <a:xfrm>
            <a:off x="548640" y="4160520"/>
            <a:ext cx="11064240" cy="1417320"/>
          </a:xfrm>
          <a:prstGeom prst="roundRect">
            <a:avLst>
              <a:gd name="adj" fmla="val 6000"/>
            </a:avLst>
          </a:prstGeom>
          <a:solidFill>
            <a:srgbClr val="EA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251960"/>
            <a:ext cx="10607040" cy="320040"/>
          </a:xfrm>
          <a:prstGeom prst="rect">
            <a:avLst/>
          </a:prstGeom>
          <a:noFill/>
        </p:spPr>
        <p:txBody>
          <a:bodyPr wrap="square">
            <a:spAutoFit/>
          </a:bodyPr>
          <a:lstStyle/>
          <a:p>
            <a:pPr algn="l"/>
            <a:r>
              <a:rPr sz="1300" b="1" i="0">
                <a:solidFill>
                  <a:srgbClr val="006548"/>
                </a:solidFill>
                <a:latin typeface="Calibri"/>
              </a:rPr>
              <a:t>If this die only had 9 qualifying runs instead of 15...</a:t>
            </a:r>
          </a:p>
        </p:txBody>
      </p:sp>
      <p:sp>
        <p:nvSpPr>
          <p:cNvPr id="11" name="TextBox 10"/>
          <p:cNvSpPr txBox="1"/>
          <p:nvPr/>
        </p:nvSpPr>
        <p:spPr>
          <a:xfrm>
            <a:off x="777240" y="4572000"/>
            <a:ext cx="10607040" cy="457200"/>
          </a:xfrm>
          <a:prstGeom prst="rect">
            <a:avLst/>
          </a:prstGeom>
          <a:noFill/>
        </p:spPr>
        <p:txBody>
          <a:bodyPr wrap="square">
            <a:spAutoFit/>
          </a:bodyPr>
          <a:lstStyle/>
          <a:p>
            <a:pPr algn="l"/>
            <a:r>
              <a:rPr sz="1100" b="0" i="0">
                <a:solidFill>
                  <a:srgbClr val="3D3935"/>
                </a:solidFill>
                <a:latin typeface="Calibri"/>
              </a:rPr>
              <a:t>Level 1 — Die-specific: 9 runs vs. 15 needed → No — falls back   |   Level 2 — Board-specific: 31 runs vs. 25 needed → Yes — resolves here   |   Level 3 — Machine-level: 58 runs vs. 35 needed → (not needed)</a:t>
            </a:r>
          </a:p>
        </p:txBody>
      </p:sp>
      <p:sp>
        <p:nvSpPr>
          <p:cNvPr id="12" name="TextBox 11"/>
          <p:cNvSpPr txBox="1"/>
          <p:nvPr/>
        </p:nvSpPr>
        <p:spPr>
          <a:xfrm>
            <a:off x="777240" y="5029200"/>
            <a:ext cx="10607040" cy="502920"/>
          </a:xfrm>
          <a:prstGeom prst="rect">
            <a:avLst/>
          </a:prstGeom>
          <a:noFill/>
        </p:spPr>
        <p:txBody>
          <a:bodyPr wrap="square">
            <a:spAutoFit/>
          </a:bodyPr>
          <a:lstStyle/>
          <a:p>
            <a:pPr algn="l"/>
            <a:r>
              <a:rPr sz="1050" b="0" i="1">
                <a:solidFill>
                  <a:srgbClr val="74706C"/>
                </a:solidFill>
                <a:latin typeface="Calibri"/>
              </a:rPr>
              <a:t>BSP would instead come from Level 2 (this machine's board type/caliper pool, 31 runs) — a slightly broader comparison group, shown with MEDIUM confidence instead of HIGH, so the plant can see at a glance that the benchmark is less die-specific than usual.</a:t>
            </a:r>
          </a:p>
        </p:txBody>
      </p:sp>
      <p:sp>
        <p:nvSpPr>
          <p:cNvPr id="13" name="Rounded Rectangle 12"/>
          <p:cNvSpPr/>
          <p:nvPr/>
        </p:nvSpPr>
        <p:spPr>
          <a:xfrm>
            <a:off x="548640" y="5715000"/>
            <a:ext cx="11064240" cy="86868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806440"/>
            <a:ext cx="10607040" cy="685800"/>
          </a:xfrm>
          <a:prstGeom prst="rect">
            <a:avLst/>
          </a:prstGeom>
          <a:noFill/>
        </p:spPr>
        <p:txBody>
          <a:bodyPr wrap="square">
            <a:spAutoFit/>
          </a:bodyPr>
          <a:lstStyle/>
          <a:p>
            <a:pPr algn="l"/>
            <a:r>
              <a:rPr sz="1350" b="1" i="0">
                <a:solidFill>
                  <a:srgbClr val="006548"/>
                </a:solidFill>
                <a:latin typeface="Calibri"/>
              </a:rPr>
              <a:t>Actual Speed = 5,200 sheets/hr, Run Hours = 90   →   Sheet Gap = (5,550 − 5,200) × 90 = 31,500 sheets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WHAT WE MEASURE</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KPI Overview — 10 Published KPIs</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63040"/>
          <a:ext cx="11064240" cy="4727448"/>
        </p:xfrm>
        <a:graphic>
          <a:graphicData uri="http://schemas.openxmlformats.org/drawingml/2006/table">
            <a:tbl>
              <a:tblPr firstRow="1" bandRow="1">
                <a:tableStyleId>{5C22544A-7EE6-4342-B048-85BDC9FD1C3A}</a:tableStyleId>
              </a:tblPr>
              <a:tblGrid>
                <a:gridCol w="4206240"/>
                <a:gridCol w="4114800"/>
                <a:gridCol w="2743200"/>
              </a:tblGrid>
              <a:tr h="429768">
                <a:tc>
                  <a:txBody>
                    <a:bodyPr/>
                    <a:lstStyle/>
                    <a:p>
                      <a:r>
                        <a:rPr sz="1200" b="1">
                          <a:solidFill>
                            <a:srgbClr val="FFFFFF"/>
                          </a:solidFill>
                        </a:rPr>
                        <a:t>KPI</a:t>
                      </a:r>
                    </a:p>
                  </a:txBody>
                  <a:tcPr marL="50800" marR="50800" marT="25400" marB="25400" anchor="ctr">
                    <a:solidFill>
                      <a:srgbClr val="006548"/>
                    </a:solidFill>
                  </a:tcPr>
                </a:tc>
                <a:tc>
                  <a:txBody>
                    <a:bodyPr/>
                    <a:lstStyle/>
                    <a:p>
                      <a:r>
                        <a:rPr sz="1200" b="1">
                          <a:solidFill>
                            <a:srgbClr val="FFFFFF"/>
                          </a:solidFill>
                        </a:rPr>
                        <a:t>Category</a:t>
                      </a:r>
                    </a:p>
                  </a:txBody>
                  <a:tcPr marL="50800" marR="50800" marT="25400" marB="25400" anchor="ctr">
                    <a:solidFill>
                      <a:srgbClr val="006548"/>
                    </a:solidFill>
                  </a:tcPr>
                </a:tc>
                <a:tc>
                  <a:txBody>
                    <a:bodyPr/>
                    <a:lstStyle/>
                    <a:p>
                      <a:r>
                        <a:rPr sz="1200" b="1">
                          <a:solidFill>
                            <a:srgbClr val="FFFFFF"/>
                          </a:solidFill>
                        </a:rPr>
                        <a:t>Direction</a:t>
                      </a:r>
                    </a:p>
                  </a:txBody>
                  <a:tcPr marL="50800" marR="50800" marT="25400" marB="25400" anchor="ctr">
                    <a:solidFill>
                      <a:srgbClr val="006548"/>
                    </a:solidFill>
                  </a:tcPr>
                </a:tc>
              </a:tr>
              <a:tr h="429768">
                <a:tc>
                  <a:txBody>
                    <a:bodyPr/>
                    <a:lstStyle/>
                    <a:p>
                      <a:r>
                        <a:rPr sz="1100" b="0">
                          <a:solidFill>
                            <a:srgbClr val="3D3935"/>
                          </a:solidFill>
                        </a:rPr>
                        <a:t>OEE</a:t>
                      </a:r>
                    </a:p>
                  </a:txBody>
                  <a:tcPr marL="50800" marR="50800" marT="25400" marB="25400" anchor="ctr">
                    <a:solidFill>
                      <a:srgbClr val="FFFFFF"/>
                    </a:solidFill>
                  </a:tcPr>
                </a:tc>
                <a:tc>
                  <a:txBody>
                    <a:bodyPr/>
                    <a:lstStyle/>
                    <a:p>
                      <a:r>
                        <a:rPr sz="1100" b="0">
                          <a:solidFill>
                            <a:srgbClr val="3D3935"/>
                          </a:solidFill>
                        </a:rPr>
                        <a:t>Outcome</a:t>
                      </a:r>
                    </a:p>
                  </a:txBody>
                  <a:tcPr marL="50800" marR="50800" marT="25400" marB="25400" anchor="ctr">
                    <a:solidFill>
                      <a:srgbClr val="FFFFFF"/>
                    </a:solidFill>
                  </a:tcPr>
                </a:tc>
                <a:tc>
                  <a:txBody>
                    <a:bodyPr/>
                    <a:lstStyle/>
                    <a:p>
                      <a:r>
                        <a:rPr sz="1100" b="0">
                          <a:solidFill>
                            <a:srgbClr val="3D3935"/>
                          </a:solidFill>
                        </a:rPr>
                        <a:t>Higher</a:t>
                      </a:r>
                    </a:p>
                  </a:txBody>
                  <a:tcPr marL="50800" marR="50800" marT="25400" marB="25400" anchor="ctr">
                    <a:solidFill>
                      <a:srgbClr val="FFFFFF"/>
                    </a:solidFill>
                  </a:tcPr>
                </a:tc>
              </a:tr>
              <a:tr h="429768">
                <a:tc>
                  <a:txBody>
                    <a:bodyPr/>
                    <a:lstStyle/>
                    <a:p>
                      <a:r>
                        <a:rPr sz="1100" b="0">
                          <a:solidFill>
                            <a:srgbClr val="3D3935"/>
                          </a:solidFill>
                        </a:rPr>
                        <a:t>Speed</a:t>
                      </a:r>
                    </a:p>
                  </a:txBody>
                  <a:tcPr marL="50800" marR="50800" marT="25400" marB="25400" anchor="ctr">
                    <a:solidFill>
                      <a:srgbClr val="EAF2E2"/>
                    </a:solidFill>
                  </a:tcPr>
                </a:tc>
                <a:tc>
                  <a:txBody>
                    <a:bodyPr/>
                    <a:lstStyle/>
                    <a:p>
                      <a:r>
                        <a:rPr sz="1100" b="0">
                          <a:solidFill>
                            <a:srgbClr val="3D3935"/>
                          </a:solidFill>
                        </a:rPr>
                        <a:t>Lever - OEE</a:t>
                      </a:r>
                    </a:p>
                  </a:txBody>
                  <a:tcPr marL="50800" marR="50800" marT="25400" marB="25400" anchor="ctr">
                    <a:solidFill>
                      <a:srgbClr val="EAF2E2"/>
                    </a:solidFill>
                  </a:tcPr>
                </a:tc>
                <a:tc>
                  <a:txBody>
                    <a:bodyPr/>
                    <a:lstStyle/>
                    <a:p>
                      <a:r>
                        <a:rPr sz="1100" b="0">
                          <a:solidFill>
                            <a:srgbClr val="3D3935"/>
                          </a:solidFill>
                        </a:rPr>
                        <a:t>Higher</a:t>
                      </a:r>
                    </a:p>
                  </a:txBody>
                  <a:tcPr marL="50800" marR="50800" marT="25400" marB="25400" anchor="ctr">
                    <a:solidFill>
                      <a:srgbClr val="EAF2E2"/>
                    </a:solidFill>
                  </a:tcPr>
                </a:tc>
              </a:tr>
              <a:tr h="429768">
                <a:tc>
                  <a:txBody>
                    <a:bodyPr/>
                    <a:lstStyle/>
                    <a:p>
                      <a:r>
                        <a:rPr sz="1100" b="0">
                          <a:solidFill>
                            <a:srgbClr val="3D3935"/>
                          </a:solidFill>
                        </a:rPr>
                        <a:t>Downtime %</a:t>
                      </a:r>
                    </a:p>
                  </a:txBody>
                  <a:tcPr marL="50800" marR="50800" marT="25400" marB="25400" anchor="ctr">
                    <a:solidFill>
                      <a:srgbClr val="FFFFFF"/>
                    </a:solidFill>
                  </a:tcPr>
                </a:tc>
                <a:tc>
                  <a:txBody>
                    <a:bodyPr/>
                    <a:lstStyle/>
                    <a:p>
                      <a:r>
                        <a:rPr sz="1100" b="0">
                          <a:solidFill>
                            <a:srgbClr val="3D3935"/>
                          </a:solidFill>
                        </a:rPr>
                        <a:t>Lever - OEE</a:t>
                      </a:r>
                    </a:p>
                  </a:txBody>
                  <a:tcPr marL="50800" marR="50800" marT="25400" marB="25400" anchor="ctr">
                    <a:solidFill>
                      <a:srgbClr val="FFFFFF"/>
                    </a:solidFill>
                  </a:tcPr>
                </a:tc>
                <a:tc>
                  <a:txBody>
                    <a:bodyPr/>
                    <a:lstStyle/>
                    <a:p>
                      <a:r>
                        <a:rPr sz="1100" b="0">
                          <a:solidFill>
                            <a:srgbClr val="3D3935"/>
                          </a:solidFill>
                        </a:rPr>
                        <a:t>Lower</a:t>
                      </a:r>
                    </a:p>
                  </a:txBody>
                  <a:tcPr marL="50800" marR="50800" marT="25400" marB="25400" anchor="ctr">
                    <a:solidFill>
                      <a:srgbClr val="FFFFFF"/>
                    </a:solidFill>
                  </a:tcPr>
                </a:tc>
              </a:tr>
              <a:tr h="429768">
                <a:tc>
                  <a:txBody>
                    <a:bodyPr/>
                    <a:lstStyle/>
                    <a:p>
                      <a:r>
                        <a:rPr sz="1100" b="0">
                          <a:solidFill>
                            <a:srgbClr val="3D3935"/>
                          </a:solidFill>
                        </a:rPr>
                        <a:t>Scrap Loss</a:t>
                      </a:r>
                    </a:p>
                  </a:txBody>
                  <a:tcPr marL="50800" marR="50800" marT="25400" marB="25400" anchor="ctr">
                    <a:solidFill>
                      <a:srgbClr val="EAF2E2"/>
                    </a:solidFill>
                  </a:tcPr>
                </a:tc>
                <a:tc>
                  <a:txBody>
                    <a:bodyPr/>
                    <a:lstStyle/>
                    <a:p>
                      <a:r>
                        <a:rPr sz="1100" b="0">
                          <a:solidFill>
                            <a:srgbClr val="3D3935"/>
                          </a:solidFill>
                        </a:rPr>
                        <a:t>Lever - OEE</a:t>
                      </a:r>
                    </a:p>
                  </a:txBody>
                  <a:tcPr marL="50800" marR="50800" marT="25400" marB="25400" anchor="ctr">
                    <a:solidFill>
                      <a:srgbClr val="EAF2E2"/>
                    </a:solidFill>
                  </a:tcPr>
                </a:tc>
                <a:tc>
                  <a:txBody>
                    <a:bodyPr/>
                    <a:lstStyle/>
                    <a:p>
                      <a:r>
                        <a:rPr sz="1100" b="0">
                          <a:solidFill>
                            <a:srgbClr val="3D3935"/>
                          </a:solidFill>
                        </a:rPr>
                        <a:t>Lower</a:t>
                      </a:r>
                    </a:p>
                  </a:txBody>
                  <a:tcPr marL="50800" marR="50800" marT="25400" marB="25400" anchor="ctr">
                    <a:solidFill>
                      <a:srgbClr val="EAF2E2"/>
                    </a:solidFill>
                  </a:tcPr>
                </a:tc>
              </a:tr>
              <a:tr h="429768">
                <a:tc>
                  <a:txBody>
                    <a:bodyPr/>
                    <a:lstStyle/>
                    <a:p>
                      <a:r>
                        <a:rPr sz="1100" b="0">
                          <a:solidFill>
                            <a:srgbClr val="3D3935"/>
                          </a:solidFill>
                        </a:rPr>
                        <a:t>Avg MR Time (Changeover / Makeready Time)</a:t>
                      </a:r>
                    </a:p>
                  </a:txBody>
                  <a:tcPr marL="50800" marR="50800" marT="25400" marB="25400" anchor="ctr">
                    <a:solidFill>
                      <a:srgbClr val="FFFFFF"/>
                    </a:solidFill>
                  </a:tcPr>
                </a:tc>
                <a:tc>
                  <a:txBody>
                    <a:bodyPr/>
                    <a:lstStyle/>
                    <a:p>
                      <a:r>
                        <a:rPr sz="1100" b="0">
                          <a:solidFill>
                            <a:srgbClr val="3D3935"/>
                          </a:solidFill>
                        </a:rPr>
                        <a:t>Lever - OEE</a:t>
                      </a:r>
                    </a:p>
                  </a:txBody>
                  <a:tcPr marL="50800" marR="50800" marT="25400" marB="25400" anchor="ctr">
                    <a:solidFill>
                      <a:srgbClr val="FFFFFF"/>
                    </a:solidFill>
                  </a:tcPr>
                </a:tc>
                <a:tc>
                  <a:txBody>
                    <a:bodyPr/>
                    <a:lstStyle/>
                    <a:p>
                      <a:r>
                        <a:rPr sz="1100" b="0">
                          <a:solidFill>
                            <a:srgbClr val="3D3935"/>
                          </a:solidFill>
                        </a:rPr>
                        <a:t>Lower</a:t>
                      </a:r>
                    </a:p>
                  </a:txBody>
                  <a:tcPr marL="50800" marR="50800" marT="25400" marB="25400" anchor="ctr">
                    <a:solidFill>
                      <a:srgbClr val="FFFFFF"/>
                    </a:solidFill>
                  </a:tcPr>
                </a:tc>
              </a:tr>
              <a:tr h="429768">
                <a:tc>
                  <a:txBody>
                    <a:bodyPr/>
                    <a:lstStyle/>
                    <a:p>
                      <a:r>
                        <a:rPr sz="1100" b="0">
                          <a:solidFill>
                            <a:srgbClr val="3D3935"/>
                          </a:solidFill>
                        </a:rPr>
                        <a:t>Avg Blanket Wash Time</a:t>
                      </a:r>
                    </a:p>
                  </a:txBody>
                  <a:tcPr marL="50800" marR="50800" marT="25400" marB="25400" anchor="ctr">
                    <a:solidFill>
                      <a:srgbClr val="EAF2E2"/>
                    </a:solidFill>
                  </a:tcPr>
                </a:tc>
                <a:tc>
                  <a:txBody>
                    <a:bodyPr/>
                    <a:lstStyle/>
                    <a:p>
                      <a:r>
                        <a:rPr sz="1100" b="0">
                          <a:solidFill>
                            <a:srgbClr val="3D3935"/>
                          </a:solidFill>
                        </a:rPr>
                        <a:t>Lever - Downtime %</a:t>
                      </a:r>
                    </a:p>
                  </a:txBody>
                  <a:tcPr marL="50800" marR="50800" marT="25400" marB="25400" anchor="ctr">
                    <a:solidFill>
                      <a:srgbClr val="EAF2E2"/>
                    </a:solidFill>
                  </a:tcPr>
                </a:tc>
                <a:tc>
                  <a:txBody>
                    <a:bodyPr/>
                    <a:lstStyle/>
                    <a:p>
                      <a:r>
                        <a:rPr sz="1100" b="0">
                          <a:solidFill>
                            <a:srgbClr val="3D3935"/>
                          </a:solidFill>
                        </a:rPr>
                        <a:t>Lower</a:t>
                      </a:r>
                    </a:p>
                  </a:txBody>
                  <a:tcPr marL="50800" marR="50800" marT="25400" marB="25400" anchor="ctr">
                    <a:solidFill>
                      <a:srgbClr val="EAF2E2"/>
                    </a:solidFill>
                  </a:tcPr>
                </a:tc>
              </a:tr>
              <a:tr h="429768">
                <a:tc>
                  <a:txBody>
                    <a:bodyPr/>
                    <a:lstStyle/>
                    <a:p>
                      <a:r>
                        <a:rPr sz="1100" b="0">
                          <a:solidFill>
                            <a:srgbClr val="3D3935"/>
                          </a:solidFill>
                        </a:rPr>
                        <a:t>Avg Feeder Trip Time</a:t>
                      </a:r>
                    </a:p>
                  </a:txBody>
                  <a:tcPr marL="50800" marR="50800" marT="25400" marB="25400" anchor="ctr">
                    <a:solidFill>
                      <a:srgbClr val="FFFFFF"/>
                    </a:solidFill>
                  </a:tcPr>
                </a:tc>
                <a:tc>
                  <a:txBody>
                    <a:bodyPr/>
                    <a:lstStyle/>
                    <a:p>
                      <a:r>
                        <a:rPr sz="1100" b="0">
                          <a:solidFill>
                            <a:srgbClr val="3D3935"/>
                          </a:solidFill>
                        </a:rPr>
                        <a:t>Lever - Downtime %</a:t>
                      </a:r>
                    </a:p>
                  </a:txBody>
                  <a:tcPr marL="50800" marR="50800" marT="25400" marB="25400" anchor="ctr">
                    <a:solidFill>
                      <a:srgbClr val="FFFFFF"/>
                    </a:solidFill>
                  </a:tcPr>
                </a:tc>
                <a:tc>
                  <a:txBody>
                    <a:bodyPr/>
                    <a:lstStyle/>
                    <a:p>
                      <a:r>
                        <a:rPr sz="1100" b="0">
                          <a:solidFill>
                            <a:srgbClr val="3D3935"/>
                          </a:solidFill>
                        </a:rPr>
                        <a:t>Lower</a:t>
                      </a:r>
                    </a:p>
                  </a:txBody>
                  <a:tcPr marL="50800" marR="50800" marT="25400" marB="25400" anchor="ctr">
                    <a:solidFill>
                      <a:srgbClr val="FFFFFF"/>
                    </a:solidFill>
                  </a:tcPr>
                </a:tc>
              </a:tr>
              <a:tr h="429768">
                <a:tc>
                  <a:txBody>
                    <a:bodyPr/>
                    <a:lstStyle/>
                    <a:p>
                      <a:r>
                        <a:rPr sz="1100" b="0">
                          <a:solidFill>
                            <a:srgbClr val="3D3935"/>
                          </a:solidFill>
                        </a:rPr>
                        <a:t>Blanket Washes per 10K</a:t>
                      </a:r>
                    </a:p>
                  </a:txBody>
                  <a:tcPr marL="50800" marR="50800" marT="25400" marB="25400" anchor="ctr">
                    <a:solidFill>
                      <a:srgbClr val="EAF2E2"/>
                    </a:solidFill>
                  </a:tcPr>
                </a:tc>
                <a:tc>
                  <a:txBody>
                    <a:bodyPr/>
                    <a:lstStyle/>
                    <a:p>
                      <a:r>
                        <a:rPr sz="1100" b="0">
                          <a:solidFill>
                            <a:srgbClr val="3D3935"/>
                          </a:solidFill>
                        </a:rPr>
                        <a:t>Lever - Downtime %</a:t>
                      </a:r>
                    </a:p>
                  </a:txBody>
                  <a:tcPr marL="50800" marR="50800" marT="25400" marB="25400" anchor="ctr">
                    <a:solidFill>
                      <a:srgbClr val="EAF2E2"/>
                    </a:solidFill>
                  </a:tcPr>
                </a:tc>
                <a:tc>
                  <a:txBody>
                    <a:bodyPr/>
                    <a:lstStyle/>
                    <a:p>
                      <a:r>
                        <a:rPr sz="1100" b="0">
                          <a:solidFill>
                            <a:srgbClr val="3D3935"/>
                          </a:solidFill>
                        </a:rPr>
                        <a:t>Lower</a:t>
                      </a:r>
                    </a:p>
                  </a:txBody>
                  <a:tcPr marL="50800" marR="50800" marT="25400" marB="25400" anchor="ctr">
                    <a:solidFill>
                      <a:srgbClr val="EAF2E2"/>
                    </a:solidFill>
                  </a:tcPr>
                </a:tc>
              </a:tr>
              <a:tr h="429768">
                <a:tc>
                  <a:txBody>
                    <a:bodyPr/>
                    <a:lstStyle/>
                    <a:p>
                      <a:r>
                        <a:rPr sz="1100" b="0">
                          <a:solidFill>
                            <a:srgbClr val="3D3935"/>
                          </a:solidFill>
                        </a:rPr>
                        <a:t>Feeder Trips per 10K</a:t>
                      </a:r>
                    </a:p>
                  </a:txBody>
                  <a:tcPr marL="50800" marR="50800" marT="25400" marB="25400" anchor="ctr">
                    <a:solidFill>
                      <a:srgbClr val="FFFFFF"/>
                    </a:solidFill>
                  </a:tcPr>
                </a:tc>
                <a:tc>
                  <a:txBody>
                    <a:bodyPr/>
                    <a:lstStyle/>
                    <a:p>
                      <a:r>
                        <a:rPr sz="1100" b="0">
                          <a:solidFill>
                            <a:srgbClr val="3D3935"/>
                          </a:solidFill>
                        </a:rPr>
                        <a:t>Lever - Downtime %</a:t>
                      </a:r>
                    </a:p>
                  </a:txBody>
                  <a:tcPr marL="50800" marR="50800" marT="25400" marB="25400" anchor="ctr">
                    <a:solidFill>
                      <a:srgbClr val="FFFFFF"/>
                    </a:solidFill>
                  </a:tcPr>
                </a:tc>
                <a:tc>
                  <a:txBody>
                    <a:bodyPr/>
                    <a:lstStyle/>
                    <a:p>
                      <a:r>
                        <a:rPr sz="1100" b="0">
                          <a:solidFill>
                            <a:srgbClr val="3D3935"/>
                          </a:solidFill>
                        </a:rPr>
                        <a:t>Lower</a:t>
                      </a:r>
                    </a:p>
                  </a:txBody>
                  <a:tcPr marL="50800" marR="50800" marT="25400" marB="25400" anchor="ctr">
                    <a:solidFill>
                      <a:srgbClr val="FFFFFF"/>
                    </a:solidFill>
                  </a:tcPr>
                </a:tc>
              </a:tr>
              <a:tr h="429768">
                <a:tc>
                  <a:txBody>
                    <a:bodyPr/>
                    <a:lstStyle/>
                    <a:p>
                      <a:r>
                        <a:rPr sz="1100" b="0">
                          <a:solidFill>
                            <a:srgbClr val="3D3935"/>
                          </a:solidFill>
                        </a:rPr>
                        <a:t>Downtime Reason (sub-reason breakdown)</a:t>
                      </a:r>
                    </a:p>
                  </a:txBody>
                  <a:tcPr marL="50800" marR="50800" marT="25400" marB="25400" anchor="ctr">
                    <a:solidFill>
                      <a:srgbClr val="EAF2E2"/>
                    </a:solidFill>
                  </a:tcPr>
                </a:tc>
                <a:tc>
                  <a:txBody>
                    <a:bodyPr/>
                    <a:lstStyle/>
                    <a:p>
                      <a:r>
                        <a:rPr sz="1100" b="0">
                          <a:solidFill>
                            <a:srgbClr val="3D3935"/>
                          </a:solidFill>
                        </a:rPr>
                        <a:t>Sub-lever of Downtime %</a:t>
                      </a:r>
                    </a:p>
                  </a:txBody>
                  <a:tcPr marL="50800" marR="50800" marT="25400" marB="25400" anchor="ctr">
                    <a:solidFill>
                      <a:srgbClr val="EAF2E2"/>
                    </a:solidFill>
                  </a:tcPr>
                </a:tc>
                <a:tc>
                  <a:txBody>
                    <a:bodyPr/>
                    <a:lstStyle/>
                    <a:p>
                      <a:r>
                        <a:rPr sz="1100" b="0">
                          <a:solidFill>
                            <a:srgbClr val="3D3935"/>
                          </a:solidFill>
                        </a:rPr>
                        <a:t>Lower</a:t>
                      </a:r>
                    </a:p>
                  </a:txBody>
                  <a:tcPr marL="50800" marR="50800" marT="25400" marB="25400" anchor="ctr">
                    <a:solidFill>
                      <a:srgbClr val="EAF2E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OUTCOME</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OEE — The Headline Number</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949440" cy="320040"/>
          </a:xfrm>
          <a:prstGeom prst="rect">
            <a:avLst/>
          </a:prstGeom>
          <a:noFill/>
        </p:spPr>
        <p:txBody>
          <a:bodyPr wrap="square">
            <a:spAutoFit/>
          </a:bodyPr>
          <a:lstStyle/>
          <a:p>
            <a:pPr algn="l"/>
            <a:r>
              <a:rPr sz="1300" b="1" i="0">
                <a:solidFill>
                  <a:srgbClr val="76BC21"/>
                </a:solidFill>
                <a:latin typeface="Calibri"/>
              </a:rPr>
              <a:t>Direction: Higher is better</a:t>
            </a:r>
          </a:p>
        </p:txBody>
      </p:sp>
      <p:sp>
        <p:nvSpPr>
          <p:cNvPr id="7" name="TextBox 6"/>
          <p:cNvSpPr txBox="1"/>
          <p:nvPr/>
        </p:nvSpPr>
        <p:spPr>
          <a:xfrm>
            <a:off x="548640" y="1783080"/>
            <a:ext cx="6949440" cy="640080"/>
          </a:xfrm>
          <a:prstGeom prst="rect">
            <a:avLst/>
          </a:prstGeom>
          <a:noFill/>
        </p:spPr>
        <p:txBody>
          <a:bodyPr wrap="square">
            <a:spAutoFit/>
          </a:bodyPr>
          <a:lstStyle/>
          <a:p>
            <a:pPr algn="l"/>
            <a:r>
              <a:rPr sz="1300" b="0" i="0">
                <a:solidFill>
                  <a:srgbClr val="3D3935"/>
                </a:solidFill>
                <a:latin typeface="Calibri"/>
              </a:rPr>
              <a:t>The single headline number for how well the machine converted its scheduled time into good product, versus what it could have made running at its rated speed with zero downtime and zero scrap.</a:t>
            </a:r>
          </a:p>
        </p:txBody>
      </p:sp>
      <p:sp>
        <p:nvSpPr>
          <p:cNvPr id="8" name="TextBox 7"/>
          <p:cNvSpPr txBox="1"/>
          <p:nvPr/>
        </p:nvSpPr>
        <p:spPr>
          <a:xfrm>
            <a:off x="548640" y="2514600"/>
            <a:ext cx="6949440" cy="548640"/>
          </a:xfrm>
          <a:prstGeom prst="rect">
            <a:avLst/>
          </a:prstGeom>
          <a:noFill/>
        </p:spPr>
        <p:txBody>
          <a:bodyPr wrap="square">
            <a:spAutoFit/>
          </a:bodyPr>
          <a:lstStyle/>
          <a:p>
            <a:pPr>
              <a:spcAft>
                <a:spcPts val="600"/>
              </a:spcAft>
            </a:pPr>
            <a:r>
              <a:rPr b="1" sz="1300">
                <a:solidFill>
                  <a:srgbClr val="006548"/>
                </a:solidFill>
              </a:rPr>
              <a:t>• Formula: </a:t>
            </a:r>
            <a:r>
              <a:rPr sz="1300">
                <a:solidFill>
                  <a:srgbClr val="3D3935"/>
                </a:solidFill>
              </a:rPr>
              <a:t>OEE = Good Sheets Produced ÷ (Scheduled Hours × Rated Speed)</a:t>
            </a:r>
          </a:p>
        </p:txBody>
      </p:sp>
      <p:sp>
        <p:nvSpPr>
          <p:cNvPr id="9" name="TextBox 8"/>
          <p:cNvSpPr txBox="1"/>
          <p:nvPr/>
        </p:nvSpPr>
        <p:spPr>
          <a:xfrm>
            <a:off x="548640" y="3063240"/>
            <a:ext cx="6949440" cy="548640"/>
          </a:xfrm>
          <a:prstGeom prst="rect">
            <a:avLst/>
          </a:prstGeom>
          <a:noFill/>
        </p:spPr>
        <p:txBody>
          <a:bodyPr wrap="square">
            <a:spAutoFit/>
          </a:bodyPr>
          <a:lstStyle/>
          <a:p>
            <a:pPr>
              <a:spcAft>
                <a:spcPts val="600"/>
              </a:spcAft>
            </a:pPr>
            <a:r>
              <a:rPr b="1" sz="1250">
                <a:solidFill>
                  <a:srgbClr val="006548"/>
                </a:solidFill>
              </a:rPr>
              <a:t>• BSP: </a:t>
            </a:r>
            <a:r>
              <a:rPr sz="1250">
                <a:solidFill>
                  <a:srgbClr val="3D3935"/>
                </a:solidFill>
              </a:rPr>
              <a:t>BSP OEE is the 75th-percentile OEE achieved across the machine's own qualifying historical runs (Level 1 die-specific, falling back to Level 2 board-specific, then Level 3 machine-level — see BSP Calculation section).</a:t>
            </a:r>
          </a:p>
        </p:txBody>
      </p:sp>
      <p:sp>
        <p:nvSpPr>
          <p:cNvPr id="10" name="TextBox 9"/>
          <p:cNvSpPr txBox="1"/>
          <p:nvPr/>
        </p:nvSpPr>
        <p:spPr>
          <a:xfrm>
            <a:off x="548640" y="3977639"/>
            <a:ext cx="6949440" cy="548640"/>
          </a:xfrm>
          <a:prstGeom prst="rect">
            <a:avLst/>
          </a:prstGeom>
          <a:noFill/>
        </p:spPr>
        <p:txBody>
          <a:bodyPr wrap="square">
            <a:spAutoFit/>
          </a:bodyPr>
          <a:lstStyle/>
          <a:p>
            <a:pPr>
              <a:spcAft>
                <a:spcPts val="600"/>
              </a:spcAft>
            </a:pPr>
            <a:r>
              <a:rPr b="1" sz="1250">
                <a:solidFill>
                  <a:srgbClr val="006548"/>
                </a:solidFill>
              </a:rPr>
              <a:t>• Sheet Gap: </a:t>
            </a:r>
            <a:r>
              <a:rPr sz="1250">
                <a:solidFill>
                  <a:srgbClr val="3D3935"/>
                </a:solidFill>
              </a:rPr>
              <a:t>Sheet Gap = (BSP OEE − Actual OEE) × Scheduled Hours × Rated Speed</a:t>
            </a:r>
          </a:p>
        </p:txBody>
      </p:sp>
      <p:sp>
        <p:nvSpPr>
          <p:cNvPr id="11" name="TextBox 10"/>
          <p:cNvSpPr txBox="1"/>
          <p:nvPr/>
        </p:nvSpPr>
        <p:spPr>
          <a:xfrm>
            <a:off x="548640" y="4709160"/>
            <a:ext cx="6949440" cy="1737360"/>
          </a:xfrm>
          <a:prstGeom prst="rect">
            <a:avLst/>
          </a:prstGeom>
          <a:noFill/>
        </p:spPr>
        <p:txBody>
          <a:bodyPr wrap="square">
            <a:spAutoFit/>
          </a:bodyPr>
          <a:lstStyle/>
          <a:p>
            <a:pPr>
              <a:spcAft>
                <a:spcPts val="600"/>
              </a:spcAft>
            </a:pPr>
            <a:r>
              <a:rPr sz="1150">
                <a:solidFill>
                  <a:srgbClr val="3D3935"/>
                </a:solidFill>
              </a:rPr>
              <a:t>— Only time explicitly flagged as scheduled/crewed production time counts toward Scheduled Hours.</a:t>
            </a:r>
          </a:p>
          <a:p>
            <a:pPr>
              <a:spcAft>
                <a:spcPts val="600"/>
              </a:spcAft>
            </a:pPr>
            <a:r>
              <a:rPr sz="1150">
                <a:solidFill>
                  <a:srgbClr val="3D3935"/>
                </a:solidFill>
              </a:rPr>
              <a:t>— Rated speed is machine-specific: Gluer and Window departments use their maximum recorded Gluer output rate; every other department uses OEM (nameplate</a:t>
            </a:r>
          </a:p>
        </p:txBody>
      </p:sp>
      <p:sp>
        <p:nvSpPr>
          <p:cNvPr id="12" name="Rounded Rectangle 11"/>
          <p:cNvSpPr/>
          <p:nvPr/>
        </p:nvSpPr>
        <p:spPr>
          <a:xfrm>
            <a:off x="7772400" y="1417320"/>
            <a:ext cx="3886200" cy="50292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554480"/>
            <a:ext cx="347472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4" name="TextBox 13"/>
          <p:cNvSpPr txBox="1"/>
          <p:nvPr/>
        </p:nvSpPr>
        <p:spPr>
          <a:xfrm>
            <a:off x="8001000" y="2057400"/>
            <a:ext cx="3474720" cy="777240"/>
          </a:xfrm>
          <a:prstGeom prst="rect">
            <a:avLst/>
          </a:prstGeom>
          <a:noFill/>
        </p:spPr>
        <p:txBody>
          <a:bodyPr wrap="square">
            <a:spAutoFit/>
          </a:bodyPr>
          <a:lstStyle/>
          <a:p>
            <a:pPr algn="l"/>
            <a:r>
              <a:rPr sz="1150" b="0" i="0">
                <a:solidFill>
                  <a:srgbClr val="3D3935"/>
                </a:solidFill>
                <a:latin typeface="Calibri"/>
              </a:rPr>
              <a:t>72.0% OEE</a:t>
            </a:r>
          </a:p>
        </p:txBody>
      </p:sp>
      <p:sp>
        <p:nvSpPr>
          <p:cNvPr id="15" name="TextBox 14"/>
          <p:cNvSpPr txBox="1"/>
          <p:nvPr/>
        </p:nvSpPr>
        <p:spPr>
          <a:xfrm>
            <a:off x="8001000" y="2743200"/>
            <a:ext cx="3474720" cy="777240"/>
          </a:xfrm>
          <a:prstGeom prst="rect">
            <a:avLst/>
          </a:prstGeom>
          <a:noFill/>
        </p:spPr>
        <p:txBody>
          <a:bodyPr wrap="square">
            <a:spAutoFit/>
          </a:bodyPr>
          <a:lstStyle/>
          <a:p>
            <a:pPr algn="l"/>
            <a:r>
              <a:rPr sz="1150" b="0" i="0">
                <a:solidFill>
                  <a:srgbClr val="3D3935"/>
                </a:solidFill>
                <a:latin typeface="Calibri"/>
              </a:rPr>
              <a:t>80.0% BSP OEE</a:t>
            </a:r>
          </a:p>
        </p:txBody>
      </p:sp>
      <p:sp>
        <p:nvSpPr>
          <p:cNvPr id="16" name="TextBox 15"/>
          <p:cNvSpPr txBox="1"/>
          <p:nvPr/>
        </p:nvSpPr>
        <p:spPr>
          <a:xfrm>
            <a:off x="8001000" y="3429000"/>
            <a:ext cx="3474720" cy="777240"/>
          </a:xfrm>
          <a:prstGeom prst="rect">
            <a:avLst/>
          </a:prstGeom>
          <a:noFill/>
        </p:spPr>
        <p:txBody>
          <a:bodyPr wrap="square">
            <a:spAutoFit/>
          </a:bodyPr>
          <a:lstStyle/>
          <a:p>
            <a:pPr algn="l"/>
            <a:r>
              <a:rPr sz="1150" b="0" i="0">
                <a:solidFill>
                  <a:srgbClr val="3D3935"/>
                </a:solidFill>
                <a:latin typeface="Calibri"/>
              </a:rPr>
              <a:t>Scheduled Hours = 120, Rated Speed = 6,000 sheets/hr</a:t>
            </a:r>
          </a:p>
        </p:txBody>
      </p:sp>
      <p:sp>
        <p:nvSpPr>
          <p:cNvPr id="17" name="TextBox 16"/>
          <p:cNvSpPr txBox="1"/>
          <p:nvPr/>
        </p:nvSpPr>
        <p:spPr>
          <a:xfrm>
            <a:off x="8001000" y="4114800"/>
            <a:ext cx="3474720" cy="777240"/>
          </a:xfrm>
          <a:prstGeom prst="rect">
            <a:avLst/>
          </a:prstGeom>
          <a:noFill/>
        </p:spPr>
        <p:txBody>
          <a:bodyPr wrap="square">
            <a:spAutoFit/>
          </a:bodyPr>
          <a:lstStyle/>
          <a:p>
            <a:pPr algn="l"/>
            <a:r>
              <a:rPr sz="1150" b="0" i="0">
                <a:solidFill>
                  <a:srgbClr val="3D3935"/>
                </a:solidFill>
                <a:latin typeface="Calibri"/>
              </a:rPr>
              <a:t>(0.80 − 0.72) × 120 × 6,000 = 57,600 sheets</a:t>
            </a:r>
          </a:p>
        </p:txBody>
      </p:sp>
      <p:sp>
        <p:nvSpPr>
          <p:cNvPr id="18" name="TextBox 17"/>
          <p:cNvSpPr txBox="1"/>
          <p:nvPr/>
        </p:nvSpPr>
        <p:spPr>
          <a:xfrm>
            <a:off x="8001000" y="4800600"/>
            <a:ext cx="3474720" cy="777240"/>
          </a:xfrm>
          <a:prstGeom prst="rect">
            <a:avLst/>
          </a:prstGeom>
          <a:noFill/>
        </p:spPr>
        <p:txBody>
          <a:bodyPr wrap="square">
            <a:spAutoFit/>
          </a:bodyPr>
          <a:lstStyle/>
          <a:p>
            <a:pPr algn="l"/>
            <a:r>
              <a:rPr sz="1150" b="0" i="0">
                <a:solidFill>
                  <a:srgbClr val="3D3935"/>
                </a:solidFill>
                <a:latin typeface="Calibri"/>
              </a:rPr>
              <a:t>≈ 57,600 sheets of lost output vs. this machine's own demonstrated best.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LEVER</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Speed</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949440" cy="320040"/>
          </a:xfrm>
          <a:prstGeom prst="rect">
            <a:avLst/>
          </a:prstGeom>
          <a:noFill/>
        </p:spPr>
        <p:txBody>
          <a:bodyPr wrap="square">
            <a:spAutoFit/>
          </a:bodyPr>
          <a:lstStyle/>
          <a:p>
            <a:pPr algn="l"/>
            <a:r>
              <a:rPr sz="1300" b="1" i="0">
                <a:solidFill>
                  <a:srgbClr val="76BC21"/>
                </a:solidFill>
                <a:latin typeface="Calibri"/>
              </a:rPr>
              <a:t>Direction: Higher is better</a:t>
            </a:r>
          </a:p>
        </p:txBody>
      </p:sp>
      <p:sp>
        <p:nvSpPr>
          <p:cNvPr id="7" name="TextBox 6"/>
          <p:cNvSpPr txBox="1"/>
          <p:nvPr/>
        </p:nvSpPr>
        <p:spPr>
          <a:xfrm>
            <a:off x="548640" y="1783080"/>
            <a:ext cx="6949440" cy="640080"/>
          </a:xfrm>
          <a:prstGeom prst="rect">
            <a:avLst/>
          </a:prstGeom>
          <a:noFill/>
        </p:spPr>
        <p:txBody>
          <a:bodyPr wrap="square">
            <a:spAutoFit/>
          </a:bodyPr>
          <a:lstStyle/>
          <a:p>
            <a:pPr algn="l"/>
            <a:r>
              <a:rPr sz="1300" b="0" i="0">
                <a:solidFill>
                  <a:srgbClr val="3D3935"/>
                </a:solidFill>
                <a:latin typeface="Calibri"/>
              </a:rPr>
              <a:t>How fast the machine actually ran while producing, in sheets per run-hour.</a:t>
            </a:r>
          </a:p>
        </p:txBody>
      </p:sp>
      <p:sp>
        <p:nvSpPr>
          <p:cNvPr id="8" name="TextBox 7"/>
          <p:cNvSpPr txBox="1"/>
          <p:nvPr/>
        </p:nvSpPr>
        <p:spPr>
          <a:xfrm>
            <a:off x="548640" y="2514600"/>
            <a:ext cx="6949440" cy="548640"/>
          </a:xfrm>
          <a:prstGeom prst="rect">
            <a:avLst/>
          </a:prstGeom>
          <a:noFill/>
        </p:spPr>
        <p:txBody>
          <a:bodyPr wrap="square">
            <a:spAutoFit/>
          </a:bodyPr>
          <a:lstStyle/>
          <a:p>
            <a:pPr>
              <a:spcAft>
                <a:spcPts val="600"/>
              </a:spcAft>
            </a:pPr>
            <a:r>
              <a:rPr b="1" sz="1300">
                <a:solidFill>
                  <a:srgbClr val="006548"/>
                </a:solidFill>
              </a:rPr>
              <a:t>• Formula: </a:t>
            </a:r>
            <a:r>
              <a:rPr sz="1300">
                <a:solidFill>
                  <a:srgbClr val="3D3935"/>
                </a:solidFill>
              </a:rPr>
              <a:t>Speed = Total Sheets Produced (good + scrap) ÷ Run Hours</a:t>
            </a:r>
          </a:p>
        </p:txBody>
      </p:sp>
      <p:sp>
        <p:nvSpPr>
          <p:cNvPr id="9" name="TextBox 8"/>
          <p:cNvSpPr txBox="1"/>
          <p:nvPr/>
        </p:nvSpPr>
        <p:spPr>
          <a:xfrm>
            <a:off x="548640" y="3063240"/>
            <a:ext cx="6949440" cy="548640"/>
          </a:xfrm>
          <a:prstGeom prst="rect">
            <a:avLst/>
          </a:prstGeom>
          <a:noFill/>
        </p:spPr>
        <p:txBody>
          <a:bodyPr wrap="square">
            <a:spAutoFit/>
          </a:bodyPr>
          <a:lstStyle/>
          <a:p>
            <a:pPr>
              <a:spcAft>
                <a:spcPts val="600"/>
              </a:spcAft>
            </a:pPr>
            <a:r>
              <a:rPr b="1" sz="1250">
                <a:solidFill>
                  <a:srgbClr val="006548"/>
                </a:solidFill>
              </a:rPr>
              <a:t>• BSP: </a:t>
            </a:r>
            <a:r>
              <a:rPr sz="1250">
                <a:solidFill>
                  <a:srgbClr val="3D3935"/>
                </a:solidFill>
              </a:rPr>
              <a:t>75th-percentile Speed from the same 3-level qualifying-run pool used for OEE.</a:t>
            </a:r>
          </a:p>
        </p:txBody>
      </p:sp>
      <p:sp>
        <p:nvSpPr>
          <p:cNvPr id="10" name="TextBox 9"/>
          <p:cNvSpPr txBox="1"/>
          <p:nvPr/>
        </p:nvSpPr>
        <p:spPr>
          <a:xfrm>
            <a:off x="548640" y="3977639"/>
            <a:ext cx="6949440" cy="548640"/>
          </a:xfrm>
          <a:prstGeom prst="rect">
            <a:avLst/>
          </a:prstGeom>
          <a:noFill/>
        </p:spPr>
        <p:txBody>
          <a:bodyPr wrap="square">
            <a:spAutoFit/>
          </a:bodyPr>
          <a:lstStyle/>
          <a:p>
            <a:pPr>
              <a:spcAft>
                <a:spcPts val="600"/>
              </a:spcAft>
            </a:pPr>
            <a:r>
              <a:rPr b="1" sz="1250">
                <a:solidFill>
                  <a:srgbClr val="006548"/>
                </a:solidFill>
              </a:rPr>
              <a:t>• Sheet Gap: </a:t>
            </a:r>
            <a:r>
              <a:rPr sz="1250">
                <a:solidFill>
                  <a:srgbClr val="3D3935"/>
                </a:solidFill>
              </a:rPr>
              <a:t>Sheet Gap = (BSP Speed − Actual Speed) × Run Hours</a:t>
            </a:r>
          </a:p>
        </p:txBody>
      </p:sp>
      <p:sp>
        <p:nvSpPr>
          <p:cNvPr id="11" name="TextBox 10"/>
          <p:cNvSpPr txBox="1"/>
          <p:nvPr/>
        </p:nvSpPr>
        <p:spPr>
          <a:xfrm>
            <a:off x="548640" y="4709160"/>
            <a:ext cx="6949440" cy="1737360"/>
          </a:xfrm>
          <a:prstGeom prst="rect">
            <a:avLst/>
          </a:prstGeom>
          <a:noFill/>
        </p:spPr>
        <p:txBody>
          <a:bodyPr wrap="square">
            <a:spAutoFit/>
          </a:bodyPr>
          <a:lstStyle/>
          <a:p>
            <a:pPr>
              <a:spcAft>
                <a:spcPts val="600"/>
              </a:spcAft>
            </a:pPr>
            <a:r>
              <a:rPr sz="1150">
                <a:solidFill>
                  <a:srgbClr val="3D3935"/>
                </a:solidFill>
              </a:rPr>
              <a:t>— Run hours counted only from scheduled/crewed time rows.</a:t>
            </a:r>
          </a:p>
        </p:txBody>
      </p:sp>
      <p:sp>
        <p:nvSpPr>
          <p:cNvPr id="12" name="Rounded Rectangle 11"/>
          <p:cNvSpPr/>
          <p:nvPr/>
        </p:nvSpPr>
        <p:spPr>
          <a:xfrm>
            <a:off x="7772400" y="1417320"/>
            <a:ext cx="3886200" cy="50292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554480"/>
            <a:ext cx="347472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4" name="TextBox 13"/>
          <p:cNvSpPr txBox="1"/>
          <p:nvPr/>
        </p:nvSpPr>
        <p:spPr>
          <a:xfrm>
            <a:off x="8001000" y="2057400"/>
            <a:ext cx="3474720" cy="777240"/>
          </a:xfrm>
          <a:prstGeom prst="rect">
            <a:avLst/>
          </a:prstGeom>
          <a:noFill/>
        </p:spPr>
        <p:txBody>
          <a:bodyPr wrap="square">
            <a:spAutoFit/>
          </a:bodyPr>
          <a:lstStyle/>
          <a:p>
            <a:pPr algn="l"/>
            <a:r>
              <a:rPr sz="1150" b="0" i="0">
                <a:solidFill>
                  <a:srgbClr val="3D3935"/>
                </a:solidFill>
                <a:latin typeface="Calibri"/>
              </a:rPr>
              <a:t>5,400 sheets/hr</a:t>
            </a:r>
          </a:p>
        </p:txBody>
      </p:sp>
      <p:sp>
        <p:nvSpPr>
          <p:cNvPr id="15" name="TextBox 14"/>
          <p:cNvSpPr txBox="1"/>
          <p:nvPr/>
        </p:nvSpPr>
        <p:spPr>
          <a:xfrm>
            <a:off x="8001000" y="2743200"/>
            <a:ext cx="3474720" cy="777240"/>
          </a:xfrm>
          <a:prstGeom prst="rect">
            <a:avLst/>
          </a:prstGeom>
          <a:noFill/>
        </p:spPr>
        <p:txBody>
          <a:bodyPr wrap="square">
            <a:spAutoFit/>
          </a:bodyPr>
          <a:lstStyle/>
          <a:p>
            <a:pPr algn="l"/>
            <a:r>
              <a:rPr sz="1150" b="0" i="0">
                <a:solidFill>
                  <a:srgbClr val="3D3935"/>
                </a:solidFill>
                <a:latin typeface="Calibri"/>
              </a:rPr>
              <a:t>6,000 sheets/hr BSP</a:t>
            </a:r>
          </a:p>
        </p:txBody>
      </p:sp>
      <p:sp>
        <p:nvSpPr>
          <p:cNvPr id="16" name="TextBox 15"/>
          <p:cNvSpPr txBox="1"/>
          <p:nvPr/>
        </p:nvSpPr>
        <p:spPr>
          <a:xfrm>
            <a:off x="8001000" y="3429000"/>
            <a:ext cx="3474720" cy="777240"/>
          </a:xfrm>
          <a:prstGeom prst="rect">
            <a:avLst/>
          </a:prstGeom>
          <a:noFill/>
        </p:spPr>
        <p:txBody>
          <a:bodyPr wrap="square">
            <a:spAutoFit/>
          </a:bodyPr>
          <a:lstStyle/>
          <a:p>
            <a:pPr algn="l"/>
            <a:r>
              <a:rPr sz="1150" b="0" i="0">
                <a:solidFill>
                  <a:srgbClr val="3D3935"/>
                </a:solidFill>
                <a:latin typeface="Calibri"/>
              </a:rPr>
              <a:t>Run Hours = 90</a:t>
            </a:r>
          </a:p>
        </p:txBody>
      </p:sp>
      <p:sp>
        <p:nvSpPr>
          <p:cNvPr id="17" name="TextBox 16"/>
          <p:cNvSpPr txBox="1"/>
          <p:nvPr/>
        </p:nvSpPr>
        <p:spPr>
          <a:xfrm>
            <a:off x="8001000" y="4114800"/>
            <a:ext cx="3474720" cy="777240"/>
          </a:xfrm>
          <a:prstGeom prst="rect">
            <a:avLst/>
          </a:prstGeom>
          <a:noFill/>
        </p:spPr>
        <p:txBody>
          <a:bodyPr wrap="square">
            <a:spAutoFit/>
          </a:bodyPr>
          <a:lstStyle/>
          <a:p>
            <a:pPr algn="l"/>
            <a:r>
              <a:rPr sz="1150" b="0" i="0">
                <a:solidFill>
                  <a:srgbClr val="3D3935"/>
                </a:solidFill>
                <a:latin typeface="Calibri"/>
              </a:rPr>
              <a:t>(6,000 − 5,400) × 90 = 54,000 sheets</a:t>
            </a:r>
          </a:p>
        </p:txBody>
      </p:sp>
      <p:sp>
        <p:nvSpPr>
          <p:cNvPr id="18" name="TextBox 17"/>
          <p:cNvSpPr txBox="1"/>
          <p:nvPr/>
        </p:nvSpPr>
        <p:spPr>
          <a:xfrm>
            <a:off x="8001000" y="4800600"/>
            <a:ext cx="3474720" cy="777240"/>
          </a:xfrm>
          <a:prstGeom prst="rect">
            <a:avLst/>
          </a:prstGeom>
          <a:noFill/>
        </p:spPr>
        <p:txBody>
          <a:bodyPr wrap="square">
            <a:spAutoFit/>
          </a:bodyPr>
          <a:lstStyle/>
          <a:p>
            <a:pPr algn="l"/>
            <a:r>
              <a:rPr sz="1150" b="0" i="0">
                <a:solidFill>
                  <a:srgbClr val="3D3935"/>
                </a:solidFill>
                <a:latin typeface="Calibri"/>
              </a:rPr>
              <a:t>≈ 54,000 sheets of output the machine could have produced running at its own demonstrated 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LEVER</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Downtime %</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949440" cy="320040"/>
          </a:xfrm>
          <a:prstGeom prst="rect">
            <a:avLst/>
          </a:prstGeom>
          <a:noFill/>
        </p:spPr>
        <p:txBody>
          <a:bodyPr wrap="square">
            <a:spAutoFit/>
          </a:bodyPr>
          <a:lstStyle/>
          <a:p>
            <a:pPr algn="l"/>
            <a:r>
              <a:rPr sz="1300" b="1" i="0">
                <a:solidFill>
                  <a:srgbClr val="76BC21"/>
                </a:solidFill>
                <a:latin typeface="Calibri"/>
              </a:rPr>
              <a:t>Direction: Lower is better</a:t>
            </a:r>
          </a:p>
        </p:txBody>
      </p:sp>
      <p:sp>
        <p:nvSpPr>
          <p:cNvPr id="7" name="TextBox 6"/>
          <p:cNvSpPr txBox="1"/>
          <p:nvPr/>
        </p:nvSpPr>
        <p:spPr>
          <a:xfrm>
            <a:off x="548640" y="1783080"/>
            <a:ext cx="6949440" cy="640080"/>
          </a:xfrm>
          <a:prstGeom prst="rect">
            <a:avLst/>
          </a:prstGeom>
          <a:noFill/>
        </p:spPr>
        <p:txBody>
          <a:bodyPr wrap="square">
            <a:spAutoFit/>
          </a:bodyPr>
          <a:lstStyle/>
          <a:p>
            <a:pPr algn="l"/>
            <a:r>
              <a:rPr sz="1300" b="0" i="0">
                <a:solidFill>
                  <a:srgbClr val="3D3935"/>
                </a:solidFill>
                <a:latin typeface="Calibri"/>
              </a:rPr>
              <a:t>The share of scheduled time the machine was down (stopped) or in setup-down, rather than running.</a:t>
            </a:r>
          </a:p>
        </p:txBody>
      </p:sp>
      <p:sp>
        <p:nvSpPr>
          <p:cNvPr id="8" name="TextBox 7"/>
          <p:cNvSpPr txBox="1"/>
          <p:nvPr/>
        </p:nvSpPr>
        <p:spPr>
          <a:xfrm>
            <a:off x="548640" y="2514600"/>
            <a:ext cx="6949440" cy="548640"/>
          </a:xfrm>
          <a:prstGeom prst="rect">
            <a:avLst/>
          </a:prstGeom>
          <a:noFill/>
        </p:spPr>
        <p:txBody>
          <a:bodyPr wrap="square">
            <a:spAutoFit/>
          </a:bodyPr>
          <a:lstStyle/>
          <a:p>
            <a:pPr>
              <a:spcAft>
                <a:spcPts val="600"/>
              </a:spcAft>
            </a:pPr>
            <a:r>
              <a:rPr b="1" sz="1300">
                <a:solidFill>
                  <a:srgbClr val="006548"/>
                </a:solidFill>
              </a:rPr>
              <a:t>• Formula: </a:t>
            </a:r>
            <a:r>
              <a:rPr sz="1300">
                <a:solidFill>
                  <a:srgbClr val="3D3935"/>
                </a:solidFill>
              </a:rPr>
              <a:t>Downtime % = (Down Hours + Setup-Down Hours) ÷ Scheduled Hours</a:t>
            </a:r>
          </a:p>
        </p:txBody>
      </p:sp>
      <p:sp>
        <p:nvSpPr>
          <p:cNvPr id="9" name="TextBox 8"/>
          <p:cNvSpPr txBox="1"/>
          <p:nvPr/>
        </p:nvSpPr>
        <p:spPr>
          <a:xfrm>
            <a:off x="548640" y="3063240"/>
            <a:ext cx="6949440" cy="548640"/>
          </a:xfrm>
          <a:prstGeom prst="rect">
            <a:avLst/>
          </a:prstGeom>
          <a:noFill/>
        </p:spPr>
        <p:txBody>
          <a:bodyPr wrap="square">
            <a:spAutoFit/>
          </a:bodyPr>
          <a:lstStyle/>
          <a:p>
            <a:pPr>
              <a:spcAft>
                <a:spcPts val="600"/>
              </a:spcAft>
            </a:pPr>
            <a:r>
              <a:rPr b="1" sz="1250">
                <a:solidFill>
                  <a:srgbClr val="006548"/>
                </a:solidFill>
              </a:rPr>
              <a:t>• BSP: </a:t>
            </a:r>
            <a:r>
              <a:rPr sz="1250">
                <a:solidFill>
                  <a:srgbClr val="3D3935"/>
                </a:solidFill>
              </a:rPr>
              <a:t>25th-percentile Downtime % from the same 3-level pool (a low downtime % is "good", so the bottom quartile is the benchmark).</a:t>
            </a:r>
          </a:p>
        </p:txBody>
      </p:sp>
      <p:sp>
        <p:nvSpPr>
          <p:cNvPr id="10" name="TextBox 9"/>
          <p:cNvSpPr txBox="1"/>
          <p:nvPr/>
        </p:nvSpPr>
        <p:spPr>
          <a:xfrm>
            <a:off x="548640" y="3977639"/>
            <a:ext cx="6949440" cy="548640"/>
          </a:xfrm>
          <a:prstGeom prst="rect">
            <a:avLst/>
          </a:prstGeom>
          <a:noFill/>
        </p:spPr>
        <p:txBody>
          <a:bodyPr wrap="square">
            <a:spAutoFit/>
          </a:bodyPr>
          <a:lstStyle/>
          <a:p>
            <a:pPr>
              <a:spcAft>
                <a:spcPts val="600"/>
              </a:spcAft>
            </a:pPr>
            <a:r>
              <a:rPr b="1" sz="1250">
                <a:solidFill>
                  <a:srgbClr val="006548"/>
                </a:solidFill>
              </a:rPr>
              <a:t>• Sheet Gap: </a:t>
            </a:r>
            <a:r>
              <a:rPr sz="1250">
                <a:solidFill>
                  <a:srgbClr val="3D3935"/>
                </a:solidFill>
              </a:rPr>
              <a:t>Sheet Gap = (Actual Downtime % − BSP Downtime %) × Scheduled Hours × BSP Speed</a:t>
            </a:r>
          </a:p>
        </p:txBody>
      </p:sp>
      <p:sp>
        <p:nvSpPr>
          <p:cNvPr id="11" name="TextBox 10"/>
          <p:cNvSpPr txBox="1"/>
          <p:nvPr/>
        </p:nvSpPr>
        <p:spPr>
          <a:xfrm>
            <a:off x="548640" y="4709160"/>
            <a:ext cx="6949440" cy="1737360"/>
          </a:xfrm>
          <a:prstGeom prst="rect">
            <a:avLst/>
          </a:prstGeom>
          <a:noFill/>
        </p:spPr>
        <p:txBody>
          <a:bodyPr wrap="square">
            <a:spAutoFit/>
          </a:bodyPr>
          <a:lstStyle/>
          <a:p>
            <a:pPr>
              <a:spcAft>
                <a:spcPts val="600"/>
              </a:spcAft>
            </a:pPr>
            <a:r>
              <a:rPr sz="1150">
                <a:solidFill>
                  <a:srgbClr val="3D3935"/>
                </a:solidFill>
              </a:rPr>
              <a:t>— Scheduled/crewed time only.</a:t>
            </a:r>
          </a:p>
          <a:p>
            <a:pPr>
              <a:spcAft>
                <a:spcPts val="600"/>
              </a:spcAft>
            </a:pPr>
            <a:r>
              <a:rPr sz="1150">
                <a:solidFill>
                  <a:srgbClr val="3D3935"/>
                </a:solidFill>
              </a:rPr>
              <a:t>— Setup Down time is counted as downtime here, per the plant definition of downtime as (Time − Run) plus (Time − Setup), i.e. everything that is not pro</a:t>
            </a:r>
          </a:p>
        </p:txBody>
      </p:sp>
      <p:sp>
        <p:nvSpPr>
          <p:cNvPr id="12" name="Rounded Rectangle 11"/>
          <p:cNvSpPr/>
          <p:nvPr/>
        </p:nvSpPr>
        <p:spPr>
          <a:xfrm>
            <a:off x="7772400" y="1417320"/>
            <a:ext cx="3886200" cy="50292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554480"/>
            <a:ext cx="347472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4" name="TextBox 13"/>
          <p:cNvSpPr txBox="1"/>
          <p:nvPr/>
        </p:nvSpPr>
        <p:spPr>
          <a:xfrm>
            <a:off x="8001000" y="2057400"/>
            <a:ext cx="3474720" cy="777240"/>
          </a:xfrm>
          <a:prstGeom prst="rect">
            <a:avLst/>
          </a:prstGeom>
          <a:noFill/>
        </p:spPr>
        <p:txBody>
          <a:bodyPr wrap="square">
            <a:spAutoFit/>
          </a:bodyPr>
          <a:lstStyle/>
          <a:p>
            <a:pPr algn="l"/>
            <a:r>
              <a:rPr sz="1150" b="0" i="0">
                <a:solidFill>
                  <a:srgbClr val="3D3935"/>
                </a:solidFill>
                <a:latin typeface="Calibri"/>
              </a:rPr>
              <a:t>18.0% downtime</a:t>
            </a:r>
          </a:p>
        </p:txBody>
      </p:sp>
      <p:sp>
        <p:nvSpPr>
          <p:cNvPr id="15" name="TextBox 14"/>
          <p:cNvSpPr txBox="1"/>
          <p:nvPr/>
        </p:nvSpPr>
        <p:spPr>
          <a:xfrm>
            <a:off x="8001000" y="2743200"/>
            <a:ext cx="3474720" cy="777240"/>
          </a:xfrm>
          <a:prstGeom prst="rect">
            <a:avLst/>
          </a:prstGeom>
          <a:noFill/>
        </p:spPr>
        <p:txBody>
          <a:bodyPr wrap="square">
            <a:spAutoFit/>
          </a:bodyPr>
          <a:lstStyle/>
          <a:p>
            <a:pPr algn="l"/>
            <a:r>
              <a:rPr sz="1150" b="0" i="0">
                <a:solidFill>
                  <a:srgbClr val="3D3935"/>
                </a:solidFill>
                <a:latin typeface="Calibri"/>
              </a:rPr>
              <a:t>12.0% BSP downtime</a:t>
            </a:r>
          </a:p>
        </p:txBody>
      </p:sp>
      <p:sp>
        <p:nvSpPr>
          <p:cNvPr id="16" name="TextBox 15"/>
          <p:cNvSpPr txBox="1"/>
          <p:nvPr/>
        </p:nvSpPr>
        <p:spPr>
          <a:xfrm>
            <a:off x="8001000" y="3429000"/>
            <a:ext cx="3474720" cy="777240"/>
          </a:xfrm>
          <a:prstGeom prst="rect">
            <a:avLst/>
          </a:prstGeom>
          <a:noFill/>
        </p:spPr>
        <p:txBody>
          <a:bodyPr wrap="square">
            <a:spAutoFit/>
          </a:bodyPr>
          <a:lstStyle/>
          <a:p>
            <a:pPr algn="l"/>
            <a:r>
              <a:rPr sz="1150" b="0" i="0">
                <a:solidFill>
                  <a:srgbClr val="3D3935"/>
                </a:solidFill>
                <a:latin typeface="Calibri"/>
              </a:rPr>
              <a:t>Scheduled Hours = 120, BSP Speed = 6,000 sheets/hr</a:t>
            </a:r>
          </a:p>
        </p:txBody>
      </p:sp>
      <p:sp>
        <p:nvSpPr>
          <p:cNvPr id="17" name="TextBox 16"/>
          <p:cNvSpPr txBox="1"/>
          <p:nvPr/>
        </p:nvSpPr>
        <p:spPr>
          <a:xfrm>
            <a:off x="8001000" y="4114800"/>
            <a:ext cx="3474720" cy="777240"/>
          </a:xfrm>
          <a:prstGeom prst="rect">
            <a:avLst/>
          </a:prstGeom>
          <a:noFill/>
        </p:spPr>
        <p:txBody>
          <a:bodyPr wrap="square">
            <a:spAutoFit/>
          </a:bodyPr>
          <a:lstStyle/>
          <a:p>
            <a:pPr algn="l"/>
            <a:r>
              <a:rPr sz="1150" b="0" i="0">
                <a:solidFill>
                  <a:srgbClr val="3D3935"/>
                </a:solidFill>
                <a:latin typeface="Calibri"/>
              </a:rPr>
              <a:t>(0.18 − 0.12) × 120 × 6,000 = 43,200 sheets</a:t>
            </a:r>
          </a:p>
        </p:txBody>
      </p:sp>
      <p:sp>
        <p:nvSpPr>
          <p:cNvPr id="18" name="TextBox 17"/>
          <p:cNvSpPr txBox="1"/>
          <p:nvPr/>
        </p:nvSpPr>
        <p:spPr>
          <a:xfrm>
            <a:off x="8001000" y="4800600"/>
            <a:ext cx="3474720" cy="777240"/>
          </a:xfrm>
          <a:prstGeom prst="rect">
            <a:avLst/>
          </a:prstGeom>
          <a:noFill/>
        </p:spPr>
        <p:txBody>
          <a:bodyPr wrap="square">
            <a:spAutoFit/>
          </a:bodyPr>
          <a:lstStyle/>
          <a:p>
            <a:pPr algn="l"/>
            <a:r>
              <a:rPr sz="1150" b="0" i="0">
                <a:solidFill>
                  <a:srgbClr val="3D3935"/>
                </a:solidFill>
                <a:latin typeface="Calibri"/>
              </a:rPr>
              <a:t>≈ 43,200 sheets of lost capacity from excess downtime.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SUB-LEVER</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Downtime Reason Breakdown</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949440" cy="320040"/>
          </a:xfrm>
          <a:prstGeom prst="rect">
            <a:avLst/>
          </a:prstGeom>
          <a:noFill/>
        </p:spPr>
        <p:txBody>
          <a:bodyPr wrap="square">
            <a:spAutoFit/>
          </a:bodyPr>
          <a:lstStyle/>
          <a:p>
            <a:pPr algn="l"/>
            <a:r>
              <a:rPr sz="1300" b="1" i="0">
                <a:solidFill>
                  <a:srgbClr val="76BC21"/>
                </a:solidFill>
                <a:latin typeface="Calibri"/>
              </a:rPr>
              <a:t>Direction: Lower is better</a:t>
            </a:r>
          </a:p>
        </p:txBody>
      </p:sp>
      <p:sp>
        <p:nvSpPr>
          <p:cNvPr id="7" name="TextBox 6"/>
          <p:cNvSpPr txBox="1"/>
          <p:nvPr/>
        </p:nvSpPr>
        <p:spPr>
          <a:xfrm>
            <a:off x="548640" y="1783080"/>
            <a:ext cx="6949440" cy="640080"/>
          </a:xfrm>
          <a:prstGeom prst="rect">
            <a:avLst/>
          </a:prstGeom>
          <a:noFill/>
        </p:spPr>
        <p:txBody>
          <a:bodyPr wrap="square">
            <a:spAutoFit/>
          </a:bodyPr>
          <a:lstStyle/>
          <a:p>
            <a:pPr algn="l"/>
            <a:r>
              <a:rPr sz="1300" b="0" i="0">
                <a:solidFill>
                  <a:srgbClr val="3D3935"/>
                </a:solidFill>
                <a:latin typeface="Calibri"/>
              </a:rPr>
              <a:t>Which specific named downtime reason codes (e.g. mechanical jam, material issue, quality check, etc. — excluding Blanket Wash / Feeder Trip / changeover reasons, which are their own KPIs above) are driving a machine's Downtime % problem. Up to the top 3 reasons by sheet impact are shown per machine per week.</a:t>
            </a:r>
          </a:p>
        </p:txBody>
      </p:sp>
      <p:sp>
        <p:nvSpPr>
          <p:cNvPr id="8" name="TextBox 7"/>
          <p:cNvSpPr txBox="1"/>
          <p:nvPr/>
        </p:nvSpPr>
        <p:spPr>
          <a:xfrm>
            <a:off x="548640" y="2514600"/>
            <a:ext cx="6949440" cy="548640"/>
          </a:xfrm>
          <a:prstGeom prst="rect">
            <a:avLst/>
          </a:prstGeom>
          <a:noFill/>
        </p:spPr>
        <p:txBody>
          <a:bodyPr wrap="square">
            <a:spAutoFit/>
          </a:bodyPr>
          <a:lstStyle/>
          <a:p>
            <a:pPr>
              <a:spcAft>
                <a:spcPts val="600"/>
              </a:spcAft>
            </a:pPr>
            <a:r>
              <a:rPr b="1" sz="1300">
                <a:solidFill>
                  <a:srgbClr val="006548"/>
                </a:solidFill>
              </a:rPr>
              <a:t>• Formula: </a:t>
            </a:r>
            <a:r>
              <a:rPr sz="1300">
                <a:solidFill>
                  <a:srgbClr val="3D3935"/>
                </a:solidFill>
              </a:rPr>
              <a:t>Reason Downtime % = Down Hours for that specific reason ÷ Total Scheduled Hours</a:t>
            </a:r>
          </a:p>
        </p:txBody>
      </p:sp>
      <p:sp>
        <p:nvSpPr>
          <p:cNvPr id="9" name="TextBox 8"/>
          <p:cNvSpPr txBox="1"/>
          <p:nvPr/>
        </p:nvSpPr>
        <p:spPr>
          <a:xfrm>
            <a:off x="548640" y="3063240"/>
            <a:ext cx="6949440" cy="548640"/>
          </a:xfrm>
          <a:prstGeom prst="rect">
            <a:avLst/>
          </a:prstGeom>
          <a:noFill/>
        </p:spPr>
        <p:txBody>
          <a:bodyPr wrap="square">
            <a:spAutoFit/>
          </a:bodyPr>
          <a:lstStyle/>
          <a:p>
            <a:pPr>
              <a:spcAft>
                <a:spcPts val="600"/>
              </a:spcAft>
            </a:pPr>
            <a:r>
              <a:rPr b="1" sz="1250">
                <a:solidFill>
                  <a:srgbClr val="006548"/>
                </a:solidFill>
              </a:rPr>
              <a:t>• BSP: </a:t>
            </a:r>
            <a:r>
              <a:rPr sz="1250">
                <a:solidFill>
                  <a:srgbClr val="3D3935"/>
                </a:solidFill>
              </a:rPr>
              <a:t>25th-percentile of that specific reason's downtime rate, from a pool of qualifying runs that had that same reason recorded, resolved with the same Level 1 → 2 → 3 fallback as other KPIs (die-specific → board-sp...</a:t>
            </a:r>
          </a:p>
        </p:txBody>
      </p:sp>
      <p:sp>
        <p:nvSpPr>
          <p:cNvPr id="10" name="TextBox 9"/>
          <p:cNvSpPr txBox="1"/>
          <p:nvPr/>
        </p:nvSpPr>
        <p:spPr>
          <a:xfrm>
            <a:off x="548640" y="3977639"/>
            <a:ext cx="6949440" cy="548640"/>
          </a:xfrm>
          <a:prstGeom prst="rect">
            <a:avLst/>
          </a:prstGeom>
          <a:noFill/>
        </p:spPr>
        <p:txBody>
          <a:bodyPr wrap="square">
            <a:spAutoFit/>
          </a:bodyPr>
          <a:lstStyle/>
          <a:p>
            <a:pPr>
              <a:spcAft>
                <a:spcPts val="600"/>
              </a:spcAft>
            </a:pPr>
            <a:r>
              <a:rPr b="1" sz="1250">
                <a:solidFill>
                  <a:srgbClr val="006548"/>
                </a:solidFill>
              </a:rPr>
              <a:t>• Sheet Gap: </a:t>
            </a:r>
            <a:r>
              <a:rPr sz="1250">
                <a:solidFill>
                  <a:srgbClr val="3D3935"/>
                </a:solidFill>
              </a:rPr>
              <a:t>Sheet Gap = (Actual Reason Rate − BSP Reason Rate) × Total Scheduled Hours × BSP Speed</a:t>
            </a:r>
          </a:p>
        </p:txBody>
      </p:sp>
      <p:sp>
        <p:nvSpPr>
          <p:cNvPr id="11" name="TextBox 10"/>
          <p:cNvSpPr txBox="1"/>
          <p:nvPr/>
        </p:nvSpPr>
        <p:spPr>
          <a:xfrm>
            <a:off x="548640" y="4709160"/>
            <a:ext cx="6949440" cy="1737360"/>
          </a:xfrm>
          <a:prstGeom prst="rect">
            <a:avLst/>
          </a:prstGeom>
          <a:noFill/>
        </p:spPr>
        <p:txBody>
          <a:bodyPr wrap="square">
            <a:spAutoFit/>
          </a:bodyPr>
          <a:lstStyle/>
          <a:p>
            <a:pPr>
              <a:spcAft>
                <a:spcPts val="600"/>
              </a:spcAft>
            </a:pPr>
            <a:r>
              <a:rPr sz="1150">
                <a:solidFill>
                  <a:srgbClr val="3D3935"/>
                </a:solidFill>
              </a:rPr>
              <a:t>— Excludes MRO/changeover-coded reason rows (those belong to Avg MR Time).</a:t>
            </a:r>
          </a:p>
          <a:p>
            <a:pPr>
              <a:spcAft>
                <a:spcPts val="600"/>
              </a:spcAft>
            </a:pPr>
            <a:r>
              <a:rPr sz="1150">
                <a:solidFill>
                  <a:srgbClr val="3D3935"/>
                </a:solidFill>
              </a:rPr>
              <a:t>— Excludes any reason code on the approved Blanket Wash / Feeder Trip list (those are their own dedicated KPIs above) — this prevents the same minutes o</a:t>
            </a:r>
          </a:p>
          <a:p>
            <a:pPr>
              <a:spcAft>
                <a:spcPts val="600"/>
              </a:spcAft>
            </a:pPr>
            <a:r>
              <a:rPr sz="1150">
                <a:solidFill>
                  <a:srgbClr val="3D3935"/>
                </a:solidFill>
              </a:rPr>
              <a:t>— Reason rows with no reason code recorded are excluded.</a:t>
            </a:r>
          </a:p>
        </p:txBody>
      </p:sp>
      <p:sp>
        <p:nvSpPr>
          <p:cNvPr id="12" name="Rounded Rectangle 11"/>
          <p:cNvSpPr/>
          <p:nvPr/>
        </p:nvSpPr>
        <p:spPr>
          <a:xfrm>
            <a:off x="7772400" y="1417320"/>
            <a:ext cx="3886200" cy="50292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554480"/>
            <a:ext cx="347472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4" name="TextBox 13"/>
          <p:cNvSpPr txBox="1"/>
          <p:nvPr/>
        </p:nvSpPr>
        <p:spPr>
          <a:xfrm>
            <a:off x="8001000" y="2057400"/>
            <a:ext cx="3474720" cy="777240"/>
          </a:xfrm>
          <a:prstGeom prst="rect">
            <a:avLst/>
          </a:prstGeom>
          <a:noFill/>
        </p:spPr>
        <p:txBody>
          <a:bodyPr wrap="square">
            <a:spAutoFit/>
          </a:bodyPr>
          <a:lstStyle/>
          <a:p>
            <a:pPr algn="l"/>
            <a:r>
              <a:rPr sz="1150" b="0" i="0">
                <a:solidFill>
                  <a:srgbClr val="3D3935"/>
                </a:solidFill>
                <a:latin typeface="Calibri"/>
              </a:rPr>
              <a:t>6.0% of scheduled hours lost to "Mechanical Jam"</a:t>
            </a:r>
          </a:p>
        </p:txBody>
      </p:sp>
      <p:sp>
        <p:nvSpPr>
          <p:cNvPr id="15" name="TextBox 14"/>
          <p:cNvSpPr txBox="1"/>
          <p:nvPr/>
        </p:nvSpPr>
        <p:spPr>
          <a:xfrm>
            <a:off x="8001000" y="2743200"/>
            <a:ext cx="3474720" cy="777240"/>
          </a:xfrm>
          <a:prstGeom prst="rect">
            <a:avLst/>
          </a:prstGeom>
          <a:noFill/>
        </p:spPr>
        <p:txBody>
          <a:bodyPr wrap="square">
            <a:spAutoFit/>
          </a:bodyPr>
          <a:lstStyle/>
          <a:p>
            <a:pPr algn="l"/>
            <a:r>
              <a:rPr sz="1150" b="0" i="0">
                <a:solidFill>
                  <a:srgbClr val="3D3935"/>
                </a:solidFill>
                <a:latin typeface="Calibri"/>
              </a:rPr>
              <a:t>3.5% BSP for that same reason on that machine</a:t>
            </a:r>
          </a:p>
        </p:txBody>
      </p:sp>
      <p:sp>
        <p:nvSpPr>
          <p:cNvPr id="16" name="TextBox 15"/>
          <p:cNvSpPr txBox="1"/>
          <p:nvPr/>
        </p:nvSpPr>
        <p:spPr>
          <a:xfrm>
            <a:off x="8001000" y="3429000"/>
            <a:ext cx="3474720" cy="777240"/>
          </a:xfrm>
          <a:prstGeom prst="rect">
            <a:avLst/>
          </a:prstGeom>
          <a:noFill/>
        </p:spPr>
        <p:txBody>
          <a:bodyPr wrap="square">
            <a:spAutoFit/>
          </a:bodyPr>
          <a:lstStyle/>
          <a:p>
            <a:pPr algn="l"/>
            <a:r>
              <a:rPr sz="1150" b="0" i="0">
                <a:solidFill>
                  <a:srgbClr val="3D3935"/>
                </a:solidFill>
                <a:latin typeface="Calibri"/>
              </a:rPr>
              <a:t>Total Scheduled Hours = 120, BSP Speed = 6,000 sheets/hr</a:t>
            </a:r>
          </a:p>
        </p:txBody>
      </p:sp>
      <p:sp>
        <p:nvSpPr>
          <p:cNvPr id="17" name="TextBox 16"/>
          <p:cNvSpPr txBox="1"/>
          <p:nvPr/>
        </p:nvSpPr>
        <p:spPr>
          <a:xfrm>
            <a:off x="8001000" y="4114800"/>
            <a:ext cx="3474720" cy="777240"/>
          </a:xfrm>
          <a:prstGeom prst="rect">
            <a:avLst/>
          </a:prstGeom>
          <a:noFill/>
        </p:spPr>
        <p:txBody>
          <a:bodyPr wrap="square">
            <a:spAutoFit/>
          </a:bodyPr>
          <a:lstStyle/>
          <a:p>
            <a:pPr algn="l"/>
            <a:r>
              <a:rPr sz="1150" b="0" i="0">
                <a:solidFill>
                  <a:srgbClr val="3D3935"/>
                </a:solidFill>
                <a:latin typeface="Calibri"/>
              </a:rPr>
              <a:t>(0.06 − 0.035) × 120 × 6,000 = 18,000 sheets</a:t>
            </a:r>
          </a:p>
        </p:txBody>
      </p:sp>
      <p:sp>
        <p:nvSpPr>
          <p:cNvPr id="18" name="TextBox 17"/>
          <p:cNvSpPr txBox="1"/>
          <p:nvPr/>
        </p:nvSpPr>
        <p:spPr>
          <a:xfrm>
            <a:off x="8001000" y="4800600"/>
            <a:ext cx="3474720" cy="777240"/>
          </a:xfrm>
          <a:prstGeom prst="rect">
            <a:avLst/>
          </a:prstGeom>
          <a:noFill/>
        </p:spPr>
        <p:txBody>
          <a:bodyPr wrap="square">
            <a:spAutoFit/>
          </a:bodyPr>
          <a:lstStyle/>
          <a:p>
            <a:pPr algn="l"/>
            <a:r>
              <a:rPr sz="1150" b="0" i="0">
                <a:solidFill>
                  <a:srgbClr val="3D3935"/>
                </a:solidFill>
                <a:latin typeface="Calibri"/>
              </a:rPr>
              <a:t>≈ 18,000 sheets of lost output attributable specifically to Mechanical Jam.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LEVER</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Avg MR Time (Changeover Time)</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949440" cy="320040"/>
          </a:xfrm>
          <a:prstGeom prst="rect">
            <a:avLst/>
          </a:prstGeom>
          <a:noFill/>
        </p:spPr>
        <p:txBody>
          <a:bodyPr wrap="square">
            <a:spAutoFit/>
          </a:bodyPr>
          <a:lstStyle/>
          <a:p>
            <a:pPr algn="l"/>
            <a:r>
              <a:rPr sz="1300" b="1" i="0">
                <a:solidFill>
                  <a:srgbClr val="76BC21"/>
                </a:solidFill>
                <a:latin typeface="Calibri"/>
              </a:rPr>
              <a:t>Direction: Lower is better</a:t>
            </a:r>
          </a:p>
        </p:txBody>
      </p:sp>
      <p:sp>
        <p:nvSpPr>
          <p:cNvPr id="7" name="TextBox 6"/>
          <p:cNvSpPr txBox="1"/>
          <p:nvPr/>
        </p:nvSpPr>
        <p:spPr>
          <a:xfrm>
            <a:off x="548640" y="1783080"/>
            <a:ext cx="6949440" cy="640080"/>
          </a:xfrm>
          <a:prstGeom prst="rect">
            <a:avLst/>
          </a:prstGeom>
          <a:noFill/>
        </p:spPr>
        <p:txBody>
          <a:bodyPr wrap="square">
            <a:spAutoFit/>
          </a:bodyPr>
          <a:lstStyle/>
          <a:p>
            <a:pPr algn="l"/>
            <a:r>
              <a:rPr sz="1300" b="0" i="0">
                <a:solidFill>
                  <a:srgbClr val="3D3935"/>
                </a:solidFill>
                <a:latin typeface="Calibri"/>
              </a:rPr>
              <a:t>The average time spent per changeover (makeready/setup) event.</a:t>
            </a:r>
          </a:p>
        </p:txBody>
      </p:sp>
      <p:sp>
        <p:nvSpPr>
          <p:cNvPr id="8" name="TextBox 7"/>
          <p:cNvSpPr txBox="1"/>
          <p:nvPr/>
        </p:nvSpPr>
        <p:spPr>
          <a:xfrm>
            <a:off x="548640" y="2514600"/>
            <a:ext cx="6949440" cy="548640"/>
          </a:xfrm>
          <a:prstGeom prst="rect">
            <a:avLst/>
          </a:prstGeom>
          <a:noFill/>
        </p:spPr>
        <p:txBody>
          <a:bodyPr wrap="square">
            <a:spAutoFit/>
          </a:bodyPr>
          <a:lstStyle/>
          <a:p>
            <a:pPr>
              <a:spcAft>
                <a:spcPts val="600"/>
              </a:spcAft>
            </a:pPr>
            <a:r>
              <a:rPr b="1" sz="1300">
                <a:solidFill>
                  <a:srgbClr val="006548"/>
                </a:solidFill>
              </a:rPr>
              <a:t>• Formula: </a:t>
            </a:r>
            <a:r>
              <a:rPr sz="1300">
                <a:solidFill>
                  <a:srgbClr val="3D3935"/>
                </a:solidFill>
              </a:rPr>
              <a:t>Avg MR Time = Total Setup Hours ÷ Number of Setup Events</a:t>
            </a:r>
          </a:p>
        </p:txBody>
      </p:sp>
      <p:sp>
        <p:nvSpPr>
          <p:cNvPr id="9" name="TextBox 8"/>
          <p:cNvSpPr txBox="1"/>
          <p:nvPr/>
        </p:nvSpPr>
        <p:spPr>
          <a:xfrm>
            <a:off x="548640" y="3063240"/>
            <a:ext cx="6949440" cy="548640"/>
          </a:xfrm>
          <a:prstGeom prst="rect">
            <a:avLst/>
          </a:prstGeom>
          <a:noFill/>
        </p:spPr>
        <p:txBody>
          <a:bodyPr wrap="square">
            <a:spAutoFit/>
          </a:bodyPr>
          <a:lstStyle/>
          <a:p>
            <a:pPr>
              <a:spcAft>
                <a:spcPts val="600"/>
              </a:spcAft>
            </a:pPr>
            <a:r>
              <a:rPr b="1" sz="1250">
                <a:solidFill>
                  <a:srgbClr val="006548"/>
                </a:solidFill>
              </a:rPr>
              <a:t>• BSP: </a:t>
            </a:r>
            <a:r>
              <a:rPr sz="1250">
                <a:solidFill>
                  <a:srgbClr val="3D3935"/>
                </a:solidFill>
              </a:rPr>
              <a:t>25th-percentile setup hours-per-event from the qualifying pool, resolved at 3 levels the same way as other KPIs, but the pool is further split by MRO Class at every level, and by exact Material Description at L...</a:t>
            </a:r>
          </a:p>
        </p:txBody>
      </p:sp>
      <p:sp>
        <p:nvSpPr>
          <p:cNvPr id="10" name="TextBox 9"/>
          <p:cNvSpPr txBox="1"/>
          <p:nvPr/>
        </p:nvSpPr>
        <p:spPr>
          <a:xfrm>
            <a:off x="548640" y="3977639"/>
            <a:ext cx="6949440" cy="548640"/>
          </a:xfrm>
          <a:prstGeom prst="rect">
            <a:avLst/>
          </a:prstGeom>
          <a:noFill/>
        </p:spPr>
        <p:txBody>
          <a:bodyPr wrap="square">
            <a:spAutoFit/>
          </a:bodyPr>
          <a:lstStyle/>
          <a:p>
            <a:pPr>
              <a:spcAft>
                <a:spcPts val="600"/>
              </a:spcAft>
            </a:pPr>
            <a:r>
              <a:rPr b="1" sz="1250">
                <a:solidFill>
                  <a:srgbClr val="006548"/>
                </a:solidFill>
              </a:rPr>
              <a:t>• Sheet Gap: </a:t>
            </a:r>
            <a:r>
              <a:rPr sz="1250">
                <a:solidFill>
                  <a:srgbClr val="3D3935"/>
                </a:solidFill>
              </a:rPr>
              <a:t>Sheet Gap = (Actual Avg MR Time − BSP Avg MR Time) × Number of Setup Events × BSP Speed</a:t>
            </a:r>
          </a:p>
        </p:txBody>
      </p:sp>
      <p:sp>
        <p:nvSpPr>
          <p:cNvPr id="11" name="TextBox 10"/>
          <p:cNvSpPr txBox="1"/>
          <p:nvPr/>
        </p:nvSpPr>
        <p:spPr>
          <a:xfrm>
            <a:off x="548640" y="4709160"/>
            <a:ext cx="6949440" cy="1737360"/>
          </a:xfrm>
          <a:prstGeom prst="rect">
            <a:avLst/>
          </a:prstGeom>
          <a:noFill/>
        </p:spPr>
        <p:txBody>
          <a:bodyPr wrap="square">
            <a:spAutoFit/>
          </a:bodyPr>
          <a:lstStyle/>
          <a:p>
            <a:pPr>
              <a:spcAft>
                <a:spcPts val="600"/>
              </a:spcAft>
            </a:pPr>
            <a:r>
              <a:rPr sz="1150">
                <a:solidFill>
                  <a:srgbClr val="3D3935"/>
                </a:solidFill>
              </a:rPr>
              <a:t>— Only rows with at least one setup event count toward this KPI.</a:t>
            </a:r>
          </a:p>
          <a:p>
            <a:pPr>
              <a:spcAft>
                <a:spcPts val="600"/>
              </a:spcAft>
            </a:pPr>
            <a:r>
              <a:rPr sz="1150">
                <a:solidFill>
                  <a:srgbClr val="3D3935"/>
                </a:solidFill>
              </a:rPr>
              <a:t>— The benchmark additionally distinguishes changeover complexity — a numeric MRO Class (1, 2, or 3) derived from the reason code — and, at the most spec</a:t>
            </a:r>
          </a:p>
        </p:txBody>
      </p:sp>
      <p:sp>
        <p:nvSpPr>
          <p:cNvPr id="12" name="Rounded Rectangle 11"/>
          <p:cNvSpPr/>
          <p:nvPr/>
        </p:nvSpPr>
        <p:spPr>
          <a:xfrm>
            <a:off x="7772400" y="1417320"/>
            <a:ext cx="3886200" cy="50292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1554480"/>
            <a:ext cx="347472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4" name="TextBox 13"/>
          <p:cNvSpPr txBox="1"/>
          <p:nvPr/>
        </p:nvSpPr>
        <p:spPr>
          <a:xfrm>
            <a:off x="8001000" y="2057400"/>
            <a:ext cx="3474720" cy="777240"/>
          </a:xfrm>
          <a:prstGeom prst="rect">
            <a:avLst/>
          </a:prstGeom>
          <a:noFill/>
        </p:spPr>
        <p:txBody>
          <a:bodyPr wrap="square">
            <a:spAutoFit/>
          </a:bodyPr>
          <a:lstStyle/>
          <a:p>
            <a:pPr algn="l"/>
            <a:r>
              <a:rPr sz="1150" b="0" i="0">
                <a:solidFill>
                  <a:srgbClr val="3D3935"/>
                </a:solidFill>
                <a:latin typeface="Calibri"/>
              </a:rPr>
              <a:t>0.75 hr (45 min) average changeover</a:t>
            </a:r>
          </a:p>
        </p:txBody>
      </p:sp>
      <p:sp>
        <p:nvSpPr>
          <p:cNvPr id="15" name="TextBox 14"/>
          <p:cNvSpPr txBox="1"/>
          <p:nvPr/>
        </p:nvSpPr>
        <p:spPr>
          <a:xfrm>
            <a:off x="8001000" y="2743200"/>
            <a:ext cx="3474720" cy="777240"/>
          </a:xfrm>
          <a:prstGeom prst="rect">
            <a:avLst/>
          </a:prstGeom>
          <a:noFill/>
        </p:spPr>
        <p:txBody>
          <a:bodyPr wrap="square">
            <a:spAutoFit/>
          </a:bodyPr>
          <a:lstStyle/>
          <a:p>
            <a:pPr algn="l"/>
            <a:r>
              <a:rPr sz="1150" b="0" i="0">
                <a:solidFill>
                  <a:srgbClr val="3D3935"/>
                </a:solidFill>
                <a:latin typeface="Calibri"/>
              </a:rPr>
              <a:t>0.45 hr (27 min) BSP average changeover</a:t>
            </a:r>
          </a:p>
        </p:txBody>
      </p:sp>
      <p:sp>
        <p:nvSpPr>
          <p:cNvPr id="16" name="TextBox 15"/>
          <p:cNvSpPr txBox="1"/>
          <p:nvPr/>
        </p:nvSpPr>
        <p:spPr>
          <a:xfrm>
            <a:off x="8001000" y="3429000"/>
            <a:ext cx="3474720" cy="777240"/>
          </a:xfrm>
          <a:prstGeom prst="rect">
            <a:avLst/>
          </a:prstGeom>
          <a:noFill/>
        </p:spPr>
        <p:txBody>
          <a:bodyPr wrap="square">
            <a:spAutoFit/>
          </a:bodyPr>
          <a:lstStyle/>
          <a:p>
            <a:pPr algn="l"/>
            <a:r>
              <a:rPr sz="1150" b="0" i="0">
                <a:solidFill>
                  <a:srgbClr val="3D3935"/>
                </a:solidFill>
                <a:latin typeface="Calibri"/>
              </a:rPr>
              <a:t>Setup Events = 8, BSP Speed = 6,000 sheets/hr</a:t>
            </a:r>
          </a:p>
        </p:txBody>
      </p:sp>
      <p:sp>
        <p:nvSpPr>
          <p:cNvPr id="17" name="TextBox 16"/>
          <p:cNvSpPr txBox="1"/>
          <p:nvPr/>
        </p:nvSpPr>
        <p:spPr>
          <a:xfrm>
            <a:off x="8001000" y="4114800"/>
            <a:ext cx="3474720" cy="777240"/>
          </a:xfrm>
          <a:prstGeom prst="rect">
            <a:avLst/>
          </a:prstGeom>
          <a:noFill/>
        </p:spPr>
        <p:txBody>
          <a:bodyPr wrap="square">
            <a:spAutoFit/>
          </a:bodyPr>
          <a:lstStyle/>
          <a:p>
            <a:pPr algn="l"/>
            <a:r>
              <a:rPr sz="1150" b="0" i="0">
                <a:solidFill>
                  <a:srgbClr val="3D3935"/>
                </a:solidFill>
                <a:latin typeface="Calibri"/>
              </a:rPr>
              <a:t>(0.75 − 0.45) × 8 × 6,000 = 14,400 sheets</a:t>
            </a:r>
          </a:p>
        </p:txBody>
      </p:sp>
      <p:sp>
        <p:nvSpPr>
          <p:cNvPr id="18" name="TextBox 17"/>
          <p:cNvSpPr txBox="1"/>
          <p:nvPr/>
        </p:nvSpPr>
        <p:spPr>
          <a:xfrm>
            <a:off x="8001000" y="4800600"/>
            <a:ext cx="3474720" cy="777240"/>
          </a:xfrm>
          <a:prstGeom prst="rect">
            <a:avLst/>
          </a:prstGeom>
          <a:noFill/>
        </p:spPr>
        <p:txBody>
          <a:bodyPr wrap="square">
            <a:spAutoFit/>
          </a:bodyPr>
          <a:lstStyle/>
          <a:p>
            <a:pPr algn="l"/>
            <a:r>
              <a:rPr sz="1150" b="0" i="0">
                <a:solidFill>
                  <a:srgbClr val="3D3935"/>
                </a:solidFill>
                <a:latin typeface="Calibri"/>
              </a:rPr>
              <a:t>≈ 14,400 sheets of capacity lost to slower-than-demonstrated changeovers.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LEVERS</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Blanket Wash &amp; Feeder Trip — Duration and Frequency</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0972800" cy="1097280"/>
          </a:xfrm>
          <a:prstGeom prst="rect">
            <a:avLst/>
          </a:prstGeom>
          <a:noFill/>
        </p:spPr>
        <p:txBody>
          <a:bodyPr wrap="square">
            <a:spAutoFit/>
          </a:bodyPr>
          <a:lstStyle/>
          <a:p>
            <a:pPr>
              <a:spcAft>
                <a:spcPts val="1000"/>
              </a:spcAft>
            </a:pPr>
            <a:r>
              <a:rPr sz="1450">
                <a:solidFill>
                  <a:srgbClr val="3D3935"/>
                </a:solidFill>
              </a:rPr>
              <a:t>• Two events, each measured two ways: how long it takes (Avg Time) and how often it happens (per 10K sheets produced).</a:t>
            </a:r>
          </a:p>
          <a:p>
            <a:pPr>
              <a:spcAft>
                <a:spcPts val="1000"/>
              </a:spcAft>
            </a:pPr>
            <a:r>
              <a:rPr sz="1450">
                <a:solidFill>
                  <a:srgbClr val="3D3935"/>
                </a:solidFill>
              </a:rPr>
              <a:t>• Identified from an approved, exact list of reason-code descriptions — not a keyword search — to avoid false matches across plants.</a:t>
            </a:r>
          </a:p>
          <a:p>
            <a:pPr>
              <a:spcAft>
                <a:spcPts val="1000"/>
              </a:spcAft>
            </a:pPr>
            <a:r>
              <a:rPr sz="1450">
                <a:solidFill>
                  <a:srgbClr val="3D3935"/>
                </a:solidFill>
              </a:rPr>
              <a:t>• Excluded from the general Downtime Reason KPI so time is never counted twice.</a:t>
            </a:r>
          </a:p>
        </p:txBody>
      </p:sp>
      <p:graphicFrame>
        <p:nvGraphicFramePr>
          <p:cNvPr id="7" name="Table 6"/>
          <p:cNvGraphicFramePr>
            <a:graphicFrameLocks noGrp="1"/>
          </p:cNvGraphicFramePr>
          <p:nvPr/>
        </p:nvGraphicFramePr>
        <p:xfrm>
          <a:off x="548640" y="2834640"/>
          <a:ext cx="11064240" cy="2514600"/>
        </p:xfrm>
        <a:graphic>
          <a:graphicData uri="http://schemas.openxmlformats.org/drawingml/2006/table">
            <a:tbl>
              <a:tblPr firstRow="1" bandRow="1">
                <a:tableStyleId>{5C22544A-7EE6-4342-B048-85BDC9FD1C3A}</a:tableStyleId>
              </a:tblPr>
              <a:tblGrid>
                <a:gridCol w="3017520"/>
                <a:gridCol w="4572000"/>
                <a:gridCol w="3474720"/>
              </a:tblGrid>
              <a:tr h="502920">
                <a:tc>
                  <a:txBody>
                    <a:bodyPr/>
                    <a:lstStyle/>
                    <a:p>
                      <a:r>
                        <a:rPr sz="1250" b="1">
                          <a:solidFill>
                            <a:srgbClr val="FFFFFF"/>
                          </a:solidFill>
                        </a:rPr>
                        <a:t>KPI</a:t>
                      </a:r>
                    </a:p>
                  </a:txBody>
                  <a:tcPr marL="50800" marR="50800" marT="25400" marB="25400" anchor="ctr">
                    <a:solidFill>
                      <a:srgbClr val="006548"/>
                    </a:solidFill>
                  </a:tcPr>
                </a:tc>
                <a:tc>
                  <a:txBody>
                    <a:bodyPr/>
                    <a:lstStyle/>
                    <a:p>
                      <a:r>
                        <a:rPr sz="1250" b="1">
                          <a:solidFill>
                            <a:srgbClr val="FFFFFF"/>
                          </a:solidFill>
                        </a:rPr>
                        <a:t>Formula</a:t>
                      </a:r>
                    </a:p>
                  </a:txBody>
                  <a:tcPr marL="50800" marR="50800" marT="25400" marB="25400" anchor="ctr">
                    <a:solidFill>
                      <a:srgbClr val="006548"/>
                    </a:solidFill>
                  </a:tcPr>
                </a:tc>
                <a:tc>
                  <a:txBody>
                    <a:bodyPr/>
                    <a:lstStyle/>
                    <a:p>
                      <a:r>
                        <a:rPr sz="1250" b="1">
                          <a:solidFill>
                            <a:srgbClr val="FFFFFF"/>
                          </a:solidFill>
                        </a:rPr>
                        <a:t>BSP Pool</a:t>
                      </a:r>
                    </a:p>
                  </a:txBody>
                  <a:tcPr marL="50800" marR="50800" marT="25400" marB="25400" anchor="ctr">
                    <a:solidFill>
                      <a:srgbClr val="006548"/>
                    </a:solidFill>
                  </a:tcPr>
                </a:tc>
              </a:tr>
              <a:tr h="502920">
                <a:tc>
                  <a:txBody>
                    <a:bodyPr/>
                    <a:lstStyle/>
                    <a:p>
                      <a:r>
                        <a:rPr sz="1200" b="0">
                          <a:solidFill>
                            <a:srgbClr val="3D3935"/>
                          </a:solidFill>
                        </a:rPr>
                        <a:t>Avg Blanket Wash Time</a:t>
                      </a:r>
                    </a:p>
                  </a:txBody>
                  <a:tcPr marL="50800" marR="50800" marT="25400" marB="25400" anchor="ctr">
                    <a:solidFill>
                      <a:srgbClr val="FFFFFF"/>
                    </a:solidFill>
                  </a:tcPr>
                </a:tc>
                <a:tc>
                  <a:txBody>
                    <a:bodyPr/>
                    <a:lstStyle/>
                    <a:p>
                      <a:r>
                        <a:rPr sz="1200" b="0">
                          <a:solidFill>
                            <a:srgbClr val="3D3935"/>
                          </a:solidFill>
                        </a:rPr>
                        <a:t>Wash Hours ÷ Wash Events</a:t>
                      </a:r>
                    </a:p>
                  </a:txBody>
                  <a:tcPr marL="50800" marR="50800" marT="25400" marB="25400" anchor="ctr">
                    <a:solidFill>
                      <a:srgbClr val="FFFFFF"/>
                    </a:solidFill>
                  </a:tcPr>
                </a:tc>
                <a:tc>
                  <a:txBody>
                    <a:bodyPr/>
                    <a:lstStyle/>
                    <a:p>
                      <a:r>
                        <a:rPr sz="1200" b="0">
                          <a:solidFill>
                            <a:srgbClr val="3D3935"/>
                          </a:solidFill>
                        </a:rPr>
                        <a:t>Runs with ≥1 wash event</a:t>
                      </a:r>
                    </a:p>
                  </a:txBody>
                  <a:tcPr marL="50800" marR="50800" marT="25400" marB="25400" anchor="ctr">
                    <a:solidFill>
                      <a:srgbClr val="FFFFFF"/>
                    </a:solidFill>
                  </a:tcPr>
                </a:tc>
              </a:tr>
              <a:tr h="502920">
                <a:tc>
                  <a:txBody>
                    <a:bodyPr/>
                    <a:lstStyle/>
                    <a:p>
                      <a:r>
                        <a:rPr sz="1200" b="0">
                          <a:solidFill>
                            <a:srgbClr val="3D3935"/>
                          </a:solidFill>
                        </a:rPr>
                        <a:t>Avg Feeder Trip Time</a:t>
                      </a:r>
                    </a:p>
                  </a:txBody>
                  <a:tcPr marL="50800" marR="50800" marT="25400" marB="25400" anchor="ctr">
                    <a:solidFill>
                      <a:srgbClr val="EAF2E2"/>
                    </a:solidFill>
                  </a:tcPr>
                </a:tc>
                <a:tc>
                  <a:txBody>
                    <a:bodyPr/>
                    <a:lstStyle/>
                    <a:p>
                      <a:r>
                        <a:rPr sz="1200" b="0">
                          <a:solidFill>
                            <a:srgbClr val="3D3935"/>
                          </a:solidFill>
                        </a:rPr>
                        <a:t>Trip Hours ÷ Trip Events</a:t>
                      </a:r>
                    </a:p>
                  </a:txBody>
                  <a:tcPr marL="50800" marR="50800" marT="25400" marB="25400" anchor="ctr">
                    <a:solidFill>
                      <a:srgbClr val="EAF2E2"/>
                    </a:solidFill>
                  </a:tcPr>
                </a:tc>
                <a:tc>
                  <a:txBody>
                    <a:bodyPr/>
                    <a:lstStyle/>
                    <a:p>
                      <a:r>
                        <a:rPr sz="1200" b="0">
                          <a:solidFill>
                            <a:srgbClr val="3D3935"/>
                          </a:solidFill>
                        </a:rPr>
                        <a:t>Runs with ≥1 trip event</a:t>
                      </a:r>
                    </a:p>
                  </a:txBody>
                  <a:tcPr marL="50800" marR="50800" marT="25400" marB="25400" anchor="ctr">
                    <a:solidFill>
                      <a:srgbClr val="EAF2E2"/>
                    </a:solidFill>
                  </a:tcPr>
                </a:tc>
              </a:tr>
              <a:tr h="502920">
                <a:tc>
                  <a:txBody>
                    <a:bodyPr/>
                    <a:lstStyle/>
                    <a:p>
                      <a:r>
                        <a:rPr sz="1200" b="0">
                          <a:solidFill>
                            <a:srgbClr val="3D3935"/>
                          </a:solidFill>
                        </a:rPr>
                        <a:t>Blanket Washes per 10K</a:t>
                      </a:r>
                    </a:p>
                  </a:txBody>
                  <a:tcPr marL="50800" marR="50800" marT="25400" marB="25400" anchor="ctr">
                    <a:solidFill>
                      <a:srgbClr val="FFFFFF"/>
                    </a:solidFill>
                  </a:tcPr>
                </a:tc>
                <a:tc>
                  <a:txBody>
                    <a:bodyPr/>
                    <a:lstStyle/>
                    <a:p>
                      <a:r>
                        <a:rPr sz="1200" b="0">
                          <a:solidFill>
                            <a:srgbClr val="3D3935"/>
                          </a:solidFill>
                        </a:rPr>
                        <a:t>(Wash Events ÷ Total Sheets) × 10,000</a:t>
                      </a:r>
                    </a:p>
                  </a:txBody>
                  <a:tcPr marL="50800" marR="50800" marT="25400" marB="25400" anchor="ctr">
                    <a:solidFill>
                      <a:srgbClr val="FFFFFF"/>
                    </a:solidFill>
                  </a:tcPr>
                </a:tc>
                <a:tc>
                  <a:txBody>
                    <a:bodyPr/>
                    <a:lstStyle/>
                    <a:p>
                      <a:r>
                        <a:rPr sz="1200" b="0">
                          <a:solidFill>
                            <a:srgbClr val="3D3935"/>
                          </a:solidFill>
                        </a:rPr>
                        <a:t>All qualifying runs, incl. 0-event runs</a:t>
                      </a:r>
                    </a:p>
                  </a:txBody>
                  <a:tcPr marL="50800" marR="50800" marT="25400" marB="25400" anchor="ctr">
                    <a:solidFill>
                      <a:srgbClr val="FFFFFF"/>
                    </a:solidFill>
                  </a:tcPr>
                </a:tc>
              </a:tr>
              <a:tr h="502920">
                <a:tc>
                  <a:txBody>
                    <a:bodyPr/>
                    <a:lstStyle/>
                    <a:p>
                      <a:r>
                        <a:rPr sz="1200" b="0">
                          <a:solidFill>
                            <a:srgbClr val="3D3935"/>
                          </a:solidFill>
                        </a:rPr>
                        <a:t>Feeder Trips per 10K</a:t>
                      </a:r>
                    </a:p>
                  </a:txBody>
                  <a:tcPr marL="50800" marR="50800" marT="25400" marB="25400" anchor="ctr">
                    <a:solidFill>
                      <a:srgbClr val="EAF2E2"/>
                    </a:solidFill>
                  </a:tcPr>
                </a:tc>
                <a:tc>
                  <a:txBody>
                    <a:bodyPr/>
                    <a:lstStyle/>
                    <a:p>
                      <a:r>
                        <a:rPr sz="1200" b="0">
                          <a:solidFill>
                            <a:srgbClr val="3D3935"/>
                          </a:solidFill>
                        </a:rPr>
                        <a:t>(Trip Events ÷ Total Sheets) × 10,000</a:t>
                      </a:r>
                    </a:p>
                  </a:txBody>
                  <a:tcPr marL="50800" marR="50800" marT="25400" marB="25400" anchor="ctr">
                    <a:solidFill>
                      <a:srgbClr val="EAF2E2"/>
                    </a:solidFill>
                  </a:tcPr>
                </a:tc>
                <a:tc>
                  <a:txBody>
                    <a:bodyPr/>
                    <a:lstStyle/>
                    <a:p>
                      <a:r>
                        <a:rPr sz="1200" b="0">
                          <a:solidFill>
                            <a:srgbClr val="3D3935"/>
                          </a:solidFill>
                        </a:rPr>
                        <a:t>All qualifying runs, incl. 0-event runs</a:t>
                      </a:r>
                    </a:p>
                  </a:txBody>
                  <a:tcPr marL="50800" marR="50800" marT="25400" marB="25400" anchor="ctr">
                    <a:solidFill>
                      <a:srgbClr val="EAF2E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SPECIAL BSP LOGIC</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Scrap Loss → Expected Scrap → BSP Performance</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640080"/>
          </a:xfrm>
          <a:prstGeom prst="rect">
            <a:avLst/>
          </a:prstGeom>
          <a:noFill/>
        </p:spPr>
        <p:txBody>
          <a:bodyPr wrap="square">
            <a:spAutoFit/>
          </a:bodyPr>
          <a:lstStyle/>
          <a:p>
            <a:pPr algn="l"/>
            <a:r>
              <a:rPr sz="1500" b="1" i="0">
                <a:solidFill>
                  <a:srgbClr val="006548"/>
                </a:solidFill>
                <a:latin typeface="Calibri"/>
              </a:rPr>
              <a:t>Scrap does not use one flat target per machine — it uses an order-size-aware "expected scrap" benchmark instead.</a:t>
            </a:r>
          </a:p>
        </p:txBody>
      </p:sp>
      <p:sp>
        <p:nvSpPr>
          <p:cNvPr id="7" name="Chevron 6"/>
          <p:cNvSpPr/>
          <p:nvPr/>
        </p:nvSpPr>
        <p:spPr>
          <a:xfrm>
            <a:off x="365760" y="2148840"/>
            <a:ext cx="2823210" cy="685800"/>
          </a:xfrm>
          <a:prstGeom prst="chevron">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rPr>
              <a:t>Bucket order by size</a:t>
            </a:r>
          </a:p>
        </p:txBody>
      </p:sp>
      <p:sp>
        <p:nvSpPr>
          <p:cNvPr id="8" name="Chevron 7"/>
          <p:cNvSpPr/>
          <p:nvPr/>
        </p:nvSpPr>
        <p:spPr>
          <a:xfrm>
            <a:off x="3079242" y="2148840"/>
            <a:ext cx="2823210" cy="685800"/>
          </a:xfrm>
          <a:prstGeom prst="chevron">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rPr>
              <a:t>P25 scrap % per bucket (6 mo.)</a:t>
            </a:r>
          </a:p>
        </p:txBody>
      </p:sp>
      <p:sp>
        <p:nvSpPr>
          <p:cNvPr id="9" name="Chevron 8"/>
          <p:cNvSpPr/>
          <p:nvPr/>
        </p:nvSpPr>
        <p:spPr>
          <a:xfrm>
            <a:off x="5792724" y="2148840"/>
            <a:ext cx="2823210" cy="685800"/>
          </a:xfrm>
          <a:prstGeom prst="chevron">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rPr>
              <a:t>Expected = Bucket % × Order Sheets</a:t>
            </a:r>
          </a:p>
        </p:txBody>
      </p:sp>
      <p:sp>
        <p:nvSpPr>
          <p:cNvPr id="10" name="Chevron 9"/>
          <p:cNvSpPr/>
          <p:nvPr/>
        </p:nvSpPr>
        <p:spPr>
          <a:xfrm>
            <a:off x="8506206" y="2148840"/>
            <a:ext cx="2823210" cy="685800"/>
          </a:xfrm>
          <a:prstGeom prst="chevron">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rPr>
              <a:t>Compare to Actual sheets scrapped</a:t>
            </a:r>
          </a:p>
        </p:txBody>
      </p:sp>
      <p:sp>
        <p:nvSpPr>
          <p:cNvPr id="11" name="Rounded Rectangle 10"/>
          <p:cNvSpPr/>
          <p:nvPr/>
        </p:nvSpPr>
        <p:spPr>
          <a:xfrm>
            <a:off x="548640" y="3108960"/>
            <a:ext cx="11064240" cy="320040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46120"/>
            <a:ext cx="10515600" cy="365760"/>
          </a:xfrm>
          <a:prstGeom prst="rect">
            <a:avLst/>
          </a:prstGeom>
          <a:noFill/>
        </p:spPr>
        <p:txBody>
          <a:bodyPr wrap="square">
            <a:spAutoFit/>
          </a:bodyPr>
          <a:lstStyle/>
          <a:p>
            <a:pPr algn="l"/>
            <a:r>
              <a:rPr sz="1500" b="1" i="0">
                <a:solidFill>
                  <a:srgbClr val="006548"/>
                </a:solidFill>
                <a:latin typeface="Calibri"/>
              </a:rPr>
              <a:t>Worked Example</a:t>
            </a:r>
          </a:p>
        </p:txBody>
      </p:sp>
      <p:sp>
        <p:nvSpPr>
          <p:cNvPr id="13" name="TextBox 12"/>
          <p:cNvSpPr txBox="1"/>
          <p:nvPr/>
        </p:nvSpPr>
        <p:spPr>
          <a:xfrm>
            <a:off x="822960" y="3703320"/>
            <a:ext cx="10515600" cy="457200"/>
          </a:xfrm>
          <a:prstGeom prst="rect">
            <a:avLst/>
          </a:prstGeom>
          <a:noFill/>
        </p:spPr>
        <p:txBody>
          <a:bodyPr wrap="square">
            <a:spAutoFit/>
          </a:bodyPr>
          <a:lstStyle/>
          <a:p>
            <a:pPr algn="l"/>
            <a:r>
              <a:rPr sz="1400" b="0" i="0">
                <a:solidFill>
                  <a:srgbClr val="3D3935"/>
                </a:solidFill>
                <a:latin typeface="Calibri"/>
              </a:rPr>
              <a:t>Machine runs one order in the "Mid" bucket (40,000 total sheets) this week.</a:t>
            </a:r>
          </a:p>
        </p:txBody>
      </p:sp>
      <p:sp>
        <p:nvSpPr>
          <p:cNvPr id="14" name="TextBox 13"/>
          <p:cNvSpPr txBox="1"/>
          <p:nvPr/>
        </p:nvSpPr>
        <p:spPr>
          <a:xfrm>
            <a:off x="822960" y="4187952"/>
            <a:ext cx="10515600" cy="457200"/>
          </a:xfrm>
          <a:prstGeom prst="rect">
            <a:avLst/>
          </a:prstGeom>
          <a:noFill/>
        </p:spPr>
        <p:txBody>
          <a:bodyPr wrap="square">
            <a:spAutoFit/>
          </a:bodyPr>
          <a:lstStyle/>
          <a:p>
            <a:pPr algn="l"/>
            <a:r>
              <a:rPr sz="1400" b="0" i="0">
                <a:solidFill>
                  <a:srgbClr val="3D3935"/>
                </a:solidFill>
                <a:latin typeface="Calibri"/>
              </a:rPr>
              <a:t>This machine's 25th-percentile scrap rate for "Mid"-bucket orders, from its own last 6 months of single-setup orders, is 3.0%.</a:t>
            </a:r>
          </a:p>
        </p:txBody>
      </p:sp>
      <p:sp>
        <p:nvSpPr>
          <p:cNvPr id="15" name="TextBox 14"/>
          <p:cNvSpPr txBox="1"/>
          <p:nvPr/>
        </p:nvSpPr>
        <p:spPr>
          <a:xfrm>
            <a:off x="822960" y="4672584"/>
            <a:ext cx="10515600" cy="457200"/>
          </a:xfrm>
          <a:prstGeom prst="rect">
            <a:avLst/>
          </a:prstGeom>
          <a:noFill/>
        </p:spPr>
        <p:txBody>
          <a:bodyPr wrap="square">
            <a:spAutoFit/>
          </a:bodyPr>
          <a:lstStyle/>
          <a:p>
            <a:pPr algn="l"/>
            <a:r>
              <a:rPr sz="1400" b="0" i="0">
                <a:solidFill>
                  <a:srgbClr val="3D3935"/>
                </a:solidFill>
                <a:latin typeface="Calibri"/>
              </a:rPr>
              <a:t>Expected Scrap = 3.0% × 40,000 = 1,200 sheets.</a:t>
            </a:r>
          </a:p>
        </p:txBody>
      </p:sp>
      <p:sp>
        <p:nvSpPr>
          <p:cNvPr id="16" name="TextBox 15"/>
          <p:cNvSpPr txBox="1"/>
          <p:nvPr/>
        </p:nvSpPr>
        <p:spPr>
          <a:xfrm>
            <a:off x="822960" y="5157216"/>
            <a:ext cx="10515600" cy="457200"/>
          </a:xfrm>
          <a:prstGeom prst="rect">
            <a:avLst/>
          </a:prstGeom>
          <a:noFill/>
        </p:spPr>
        <p:txBody>
          <a:bodyPr wrap="square">
            <a:spAutoFit/>
          </a:bodyPr>
          <a:lstStyle/>
          <a:p>
            <a:pPr algn="l"/>
            <a:r>
              <a:rPr sz="1400" b="0" i="0">
                <a:solidFill>
                  <a:srgbClr val="3D3935"/>
                </a:solidFill>
                <a:latin typeface="Calibri"/>
              </a:rPr>
              <a:t>This order actually scrapped 1,600 sheets (4.0% of the order).</a:t>
            </a:r>
          </a:p>
        </p:txBody>
      </p:sp>
      <p:sp>
        <p:nvSpPr>
          <p:cNvPr id="17" name="TextBox 16"/>
          <p:cNvSpPr txBox="1"/>
          <p:nvPr/>
        </p:nvSpPr>
        <p:spPr>
          <a:xfrm>
            <a:off x="822960" y="5641848"/>
            <a:ext cx="10515600" cy="457200"/>
          </a:xfrm>
          <a:prstGeom prst="rect">
            <a:avLst/>
          </a:prstGeom>
          <a:noFill/>
        </p:spPr>
        <p:txBody>
          <a:bodyPr wrap="square">
            <a:spAutoFit/>
          </a:bodyPr>
          <a:lstStyle/>
          <a:p>
            <a:pPr algn="l"/>
            <a:r>
              <a:rPr sz="1400" b="0" i="0">
                <a:solidFill>
                  <a:srgbClr val="3D3935"/>
                </a:solidFill>
                <a:latin typeface="Calibri"/>
              </a:rPr>
              <a:t>Scrap Loss = 1,600 − 1,200 = 400 sheets of excess scrap for this order.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COMMON CURRENCY</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Sheet Gap — Turning Every KPI Into Sheets</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7040880" cy="914400"/>
          </a:xfrm>
          <a:prstGeom prst="rect">
            <a:avLst/>
          </a:prstGeom>
          <a:noFill/>
        </p:spPr>
        <p:txBody>
          <a:bodyPr wrap="square">
            <a:spAutoFit/>
          </a:bodyPr>
          <a:lstStyle/>
          <a:p>
            <a:pPr algn="l"/>
            <a:r>
              <a:rPr sz="1350" b="0" i="0">
                <a:solidFill>
                  <a:srgbClr val="3D3935"/>
                </a:solidFill>
                <a:latin typeface="Calibri"/>
              </a:rPr>
              <a:t>Sheet Gap is the platform's common currency for comparing very different kinds of shortfalls — a percentage-point gap in OEE, extra minutes per changeover, extra downtime events — on one scale: an estimated number of sheets the plant did not produce last week because performance on that KPI fell short of its own demonstrated BSP benchmark.</a:t>
            </a:r>
          </a:p>
        </p:txBody>
      </p:sp>
      <p:sp>
        <p:nvSpPr>
          <p:cNvPr id="7" name="TextBox 6"/>
          <p:cNvSpPr txBox="1"/>
          <p:nvPr/>
        </p:nvSpPr>
        <p:spPr>
          <a:xfrm>
            <a:off x="548640" y="2514600"/>
            <a:ext cx="7040880" cy="3291840"/>
          </a:xfrm>
          <a:prstGeom prst="rect">
            <a:avLst/>
          </a:prstGeom>
          <a:noFill/>
        </p:spPr>
        <p:txBody>
          <a:bodyPr wrap="square">
            <a:spAutoFit/>
          </a:bodyPr>
          <a:lstStyle/>
          <a:p>
            <a:pPr>
              <a:spcAft>
                <a:spcPts val="1000"/>
              </a:spcAft>
            </a:pPr>
            <a:r>
              <a:rPr b="1" sz="1300">
                <a:solidFill>
                  <a:srgbClr val="006548"/>
                </a:solidFill>
              </a:rPr>
              <a:t>• No double-counting: </a:t>
            </a:r>
            <a:r>
              <a:rPr sz="1300">
                <a:solidFill>
                  <a:srgbClr val="3D3935"/>
                </a:solidFill>
              </a:rPr>
              <a:t>OEE's own Sheet Gap is the machine's Total Sheet Impact; lever rows explain WHY, they are not added on top.</a:t>
            </a:r>
          </a:p>
          <a:p>
            <a:pPr>
              <a:spcAft>
                <a:spcPts val="1000"/>
              </a:spcAft>
            </a:pPr>
            <a:r>
              <a:rPr b="1" sz="1300">
                <a:solidFill>
                  <a:srgbClr val="006548"/>
                </a:solidFill>
              </a:rPr>
              <a:t>• Gated: </a:t>
            </a:r>
            <a:r>
              <a:rPr sz="1300">
                <a:solidFill>
                  <a:srgbClr val="3D3935"/>
                </a:solidFill>
              </a:rPr>
              <a:t>Only counted when the gap is positive and BSP coverage exceeds 50%.</a:t>
            </a:r>
          </a:p>
          <a:p>
            <a:pPr>
              <a:spcAft>
                <a:spcPts val="1000"/>
              </a:spcAft>
            </a:pPr>
            <a:r>
              <a:rPr b="1" sz="1300">
                <a:solidFill>
                  <a:srgbClr val="006548"/>
                </a:solidFill>
              </a:rPr>
              <a:t>• Ranking: </a:t>
            </a:r>
            <a:r>
              <a:rPr sz="1300">
                <a:solidFill>
                  <a:srgbClr val="3D3935"/>
                </a:solidFill>
              </a:rPr>
              <a:t>Opportunities within a plant are ranked by Sheet Impact, largest first.</a:t>
            </a:r>
          </a:p>
          <a:p>
            <a:pPr>
              <a:spcAft>
                <a:spcPts val="1000"/>
              </a:spcAft>
            </a:pPr>
            <a:r>
              <a:rPr b="1" sz="1300">
                <a:solidFill>
                  <a:srgbClr val="006548"/>
                </a:solidFill>
              </a:rPr>
              <a:t>• Streak is display-only: </a:t>
            </a:r>
            <a:r>
              <a:rPr sz="1300">
                <a:solidFill>
                  <a:srgbClr val="3D3935"/>
                </a:solidFill>
              </a:rPr>
              <a:t>Consecutive-week or 4-week-above-BSP streaks are shown but do not change the Sheet Gap number.</a:t>
            </a:r>
          </a:p>
        </p:txBody>
      </p:sp>
      <p:sp>
        <p:nvSpPr>
          <p:cNvPr id="8" name="Rounded Rectangle 7"/>
          <p:cNvSpPr/>
          <p:nvPr/>
        </p:nvSpPr>
        <p:spPr>
          <a:xfrm>
            <a:off x="7863840" y="1417320"/>
            <a:ext cx="3794760" cy="4389120"/>
          </a:xfrm>
          <a:prstGeom prst="roundRect">
            <a:avLst>
              <a:gd name="adj" fmla="val 6000"/>
            </a:avLst>
          </a:prstGeom>
          <a:solidFill>
            <a:srgbClr val="F0F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554480"/>
            <a:ext cx="3383280" cy="365760"/>
          </a:xfrm>
          <a:prstGeom prst="rect">
            <a:avLst/>
          </a:prstGeom>
          <a:noFill/>
        </p:spPr>
        <p:txBody>
          <a:bodyPr wrap="square">
            <a:spAutoFit/>
          </a:bodyPr>
          <a:lstStyle/>
          <a:p>
            <a:pPr algn="l"/>
            <a:r>
              <a:rPr sz="1500" b="1" i="0">
                <a:solidFill>
                  <a:srgbClr val="006548"/>
                </a:solidFill>
                <a:latin typeface="Calibri"/>
              </a:rPr>
              <a:t>Worked Example (OEE)</a:t>
            </a:r>
          </a:p>
        </p:txBody>
      </p:sp>
      <p:sp>
        <p:nvSpPr>
          <p:cNvPr id="10" name="TextBox 9"/>
          <p:cNvSpPr txBox="1"/>
          <p:nvPr/>
        </p:nvSpPr>
        <p:spPr>
          <a:xfrm>
            <a:off x="8092440" y="2057400"/>
            <a:ext cx="3383280" cy="914400"/>
          </a:xfrm>
          <a:prstGeom prst="rect">
            <a:avLst/>
          </a:prstGeom>
          <a:noFill/>
        </p:spPr>
        <p:txBody>
          <a:bodyPr wrap="square">
            <a:spAutoFit/>
          </a:bodyPr>
          <a:lstStyle/>
          <a:p>
            <a:pPr algn="l"/>
            <a:r>
              <a:rPr sz="1250" b="0" i="0">
                <a:solidFill>
                  <a:srgbClr val="3D3935"/>
                </a:solidFill>
                <a:latin typeface="Calibri"/>
              </a:rPr>
              <a:t>BSP OEE = 80%, Actual OEE = 72%</a:t>
            </a:r>
          </a:p>
        </p:txBody>
      </p:sp>
      <p:sp>
        <p:nvSpPr>
          <p:cNvPr id="11" name="TextBox 10"/>
          <p:cNvSpPr txBox="1"/>
          <p:nvPr/>
        </p:nvSpPr>
        <p:spPr>
          <a:xfrm>
            <a:off x="8092440" y="2926080"/>
            <a:ext cx="3383280" cy="914400"/>
          </a:xfrm>
          <a:prstGeom prst="rect">
            <a:avLst/>
          </a:prstGeom>
          <a:noFill/>
        </p:spPr>
        <p:txBody>
          <a:bodyPr wrap="square">
            <a:spAutoFit/>
          </a:bodyPr>
          <a:lstStyle/>
          <a:p>
            <a:pPr algn="l"/>
            <a:r>
              <a:rPr sz="1250" b="0" i="0">
                <a:solidFill>
                  <a:srgbClr val="3D3935"/>
                </a:solidFill>
                <a:latin typeface="Calibri"/>
              </a:rPr>
              <a:t>Scheduled Hours = 120, Rated Speed = 6,000 sheets/hr</a:t>
            </a:r>
          </a:p>
        </p:txBody>
      </p:sp>
      <p:sp>
        <p:nvSpPr>
          <p:cNvPr id="12" name="TextBox 11"/>
          <p:cNvSpPr txBox="1"/>
          <p:nvPr/>
        </p:nvSpPr>
        <p:spPr>
          <a:xfrm>
            <a:off x="8092440" y="3794760"/>
            <a:ext cx="3383280" cy="914400"/>
          </a:xfrm>
          <a:prstGeom prst="rect">
            <a:avLst/>
          </a:prstGeom>
          <a:noFill/>
        </p:spPr>
        <p:txBody>
          <a:bodyPr wrap="square">
            <a:spAutoFit/>
          </a:bodyPr>
          <a:lstStyle/>
          <a:p>
            <a:pPr algn="l"/>
            <a:r>
              <a:rPr sz="1250" b="0" i="0">
                <a:solidFill>
                  <a:srgbClr val="3D3935"/>
                </a:solidFill>
                <a:latin typeface="Calibri"/>
              </a:rPr>
              <a:t>Sheet Gap = (0.80 − 0.72) × 120 × 6,000 = 57,600 sheets</a:t>
            </a:r>
          </a:p>
        </p:txBody>
      </p:sp>
      <p:sp>
        <p:nvSpPr>
          <p:cNvPr id="13" name="TextBox 12"/>
          <p:cNvSpPr txBox="1"/>
          <p:nvPr/>
        </p:nvSpPr>
        <p:spPr>
          <a:xfrm>
            <a:off x="8092440" y="4663440"/>
            <a:ext cx="3383280" cy="914400"/>
          </a:xfrm>
          <a:prstGeom prst="rect">
            <a:avLst/>
          </a:prstGeom>
          <a:noFill/>
        </p:spPr>
        <p:txBody>
          <a:bodyPr wrap="square">
            <a:spAutoFit/>
          </a:bodyPr>
          <a:lstStyle/>
          <a:p>
            <a:pPr algn="l"/>
            <a:r>
              <a:rPr sz="1250" b="0" i="0">
                <a:solidFill>
                  <a:srgbClr val="3D3935"/>
                </a:solidFill>
                <a:latin typeface="Calibri"/>
              </a:rPr>
              <a:t>That 57,600-sheet OEE gap becomes the machine's Total Sheet Impact for the week on the summary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spAutoFit/>
          </a:bodyPr>
          <a:lstStyle/>
          <a:p>
            <a:pPr algn="l"/>
            <a:r>
              <a:rPr sz="1300" b="1" i="0">
                <a:solidFill>
                  <a:srgbClr val="76BC21"/>
                </a:solidFill>
                <a:latin typeface="Calibri"/>
              </a:rPr>
              <a:t>GUARDRAILS</a:t>
            </a:r>
          </a:p>
        </p:txBody>
      </p:sp>
      <p:sp>
        <p:nvSpPr>
          <p:cNvPr id="4" name="TextBox 3"/>
          <p:cNvSpPr txBox="1"/>
          <p:nvPr/>
        </p:nvSpPr>
        <p:spPr>
          <a:xfrm>
            <a:off x="457200" y="566928"/>
            <a:ext cx="11247120" cy="685800"/>
          </a:xfrm>
          <a:prstGeom prst="rect">
            <a:avLst/>
          </a:prstGeom>
          <a:noFill/>
        </p:spPr>
        <p:txBody>
          <a:bodyPr wrap="square">
            <a:spAutoFit/>
          </a:bodyPr>
          <a:lstStyle/>
          <a:p>
            <a:pPr algn="l"/>
            <a:r>
              <a:rPr sz="2700" b="1" i="0">
                <a:solidFill>
                  <a:srgbClr val="006548"/>
                </a:solidFill>
                <a:latin typeface="Calibri"/>
              </a:rPr>
              <a:t>Key Filters &amp; Exclusions</a:t>
            </a:r>
          </a:p>
        </p:txBody>
      </p:sp>
      <p:sp>
        <p:nvSpPr>
          <p:cNvPr id="5" name="Rectangle 4"/>
          <p:cNvSpPr/>
          <p:nvPr/>
        </p:nvSpPr>
        <p:spPr>
          <a:xfrm>
            <a:off x="457200" y="1234440"/>
            <a:ext cx="11247120" cy="31750"/>
          </a:xfrm>
          <a:prstGeom prst="rect">
            <a:avLst/>
          </a:prstGeom>
          <a:solidFill>
            <a:srgbClr val="76B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1064240" cy="4846320"/>
          </a:xfrm>
          <a:prstGeom prst="rect">
            <a:avLst/>
          </a:prstGeom>
          <a:noFill/>
        </p:spPr>
        <p:txBody>
          <a:bodyPr wrap="square">
            <a:spAutoFit/>
          </a:bodyPr>
          <a:lstStyle/>
          <a:p>
            <a:pPr>
              <a:spcAft>
                <a:spcPts val="1600"/>
              </a:spcAft>
            </a:pPr>
            <a:r>
              <a:rPr sz="1550">
                <a:solidFill>
                  <a:srgbClr val="3D3935"/>
                </a:solidFill>
              </a:rPr>
              <a:t>• Only scheduled/crewed time counts toward time-based KPIs; runs of 2 hours or less are excluded from every benchmark pool.</a:t>
            </a:r>
          </a:p>
          <a:p>
            <a:pPr>
              <a:spcAft>
                <a:spcPts val="1600"/>
              </a:spcAft>
            </a:pPr>
            <a:r>
              <a:rPr sz="1550">
                <a:solidFill>
                  <a:srgbClr val="3D3935"/>
                </a:solidFill>
              </a:rPr>
              <a:t>• Setup Down time counts as machine downtime (Downtime %), but is excluded from reason-level downtime — reason codes attribute only Down time.</a:t>
            </a:r>
          </a:p>
          <a:p>
            <a:pPr>
              <a:spcAft>
                <a:spcPts val="1600"/>
              </a:spcAft>
            </a:pPr>
            <a:r>
              <a:rPr sz="1550">
                <a:solidFill>
                  <a:srgbClr val="3D3935"/>
                </a:solidFill>
              </a:rPr>
              <a:t>• MRO/changeover reason codes and the approved Blanket Wash / Feeder Trip reason list are both excluded from the general Downtime Reason KPI, so nothing is counted twice.</a:t>
            </a:r>
          </a:p>
          <a:p>
            <a:pPr>
              <a:spcAft>
                <a:spcPts val="1600"/>
              </a:spcAft>
            </a:pPr>
            <a:r>
              <a:rPr sz="1550">
                <a:solidFill>
                  <a:srgbClr val="3D3935"/>
                </a:solidFill>
              </a:rPr>
              <a:t>• Scrap Loss (actual and benchmark) is restricted to single-setup orders only.</a:t>
            </a:r>
          </a:p>
          <a:p>
            <a:pPr>
              <a:spcAft>
                <a:spcPts val="1600"/>
              </a:spcAft>
            </a:pPr>
            <a:r>
              <a:rPr sz="1550">
                <a:solidFill>
                  <a:srgbClr val="3D3935"/>
                </a:solidFill>
              </a:rPr>
              <a:t>• Every insight requires BSP coverage strictly greater than 50% of the week's scheduled (or, for Scrap, sheet) volume before it is published.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5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spAutoFit/>
          </a:bodyPr>
          <a:lstStyle/>
          <a:p>
            <a:pPr algn="l"/>
            <a:r>
              <a:rPr sz="3200" b="1" i="0">
                <a:solidFill>
                  <a:srgbClr val="FFFFFF"/>
                </a:solidFill>
                <a:latin typeface="Calibri"/>
              </a:rPr>
              <a:t>Plant Discussion</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1200"/>
              </a:spcAft>
            </a:pPr>
            <a:r>
              <a:rPr sz="1600">
                <a:solidFill>
                  <a:srgbClr val="DDEEC7"/>
                </a:solidFill>
              </a:rPr>
              <a:t>• Are these the right KPI definitions — are we measuring what we intend to measure?</a:t>
            </a:r>
          </a:p>
          <a:p>
            <a:pPr>
              <a:spcAft>
                <a:spcPts val="1200"/>
              </a:spcAft>
            </a:pPr>
            <a:r>
              <a:rPr sz="1600">
                <a:solidFill>
                  <a:srgbClr val="DDEEC7"/>
                </a:solidFill>
              </a:rPr>
              <a:t>• Are the right events included, and are the right events excluded?</a:t>
            </a:r>
          </a:p>
          <a:p>
            <a:pPr>
              <a:spcAft>
                <a:spcPts val="1200"/>
              </a:spcAft>
            </a:pPr>
            <a:r>
              <a:rPr sz="1600">
                <a:solidFill>
                  <a:srgbClr val="DDEEC7"/>
                </a:solidFill>
              </a:rPr>
              <a:t>• Are the current filters correct for your plant and machines?</a:t>
            </a:r>
          </a:p>
          <a:p>
            <a:pPr>
              <a:spcAft>
                <a:spcPts val="1200"/>
              </a:spcAft>
            </a:pPr>
            <a:r>
              <a:rPr sz="1600">
                <a:solidFill>
                  <a:srgbClr val="DDEEC7"/>
                </a:solidFill>
              </a:rPr>
              <a:t>• Is the BSP target (percentile + minimum pool size) reasonable and appropriately ambitious?</a:t>
            </a:r>
          </a:p>
          <a:p>
            <a:pPr>
              <a:spcAft>
                <a:spcPts val="1200"/>
              </a:spcAft>
            </a:pPr>
            <a:r>
              <a:rPr sz="1600">
                <a:solidFill>
                  <a:srgbClr val="DDEEC7"/>
                </a:solidFill>
              </a:rPr>
              <a:t>• Is the BSP performance / Sheet Gap comparison method fair?</a:t>
            </a:r>
          </a:p>
          <a:p>
            <a:pPr>
              <a:spcAft>
                <a:spcPts val="1200"/>
              </a:spcAft>
            </a:pPr>
            <a:r>
              <a:rPr sz="1600">
                <a:solidFill>
                  <a:srgbClr val="DDEEC7"/>
                </a:solidFill>
              </a:rPr>
              <a:t>• Should any KPI use different special logic (e.g. expected scrap)?</a:t>
            </a:r>
          </a:p>
          <a:p>
            <a:pPr>
              <a:spcAft>
                <a:spcPts val="1200"/>
              </a:spcAft>
            </a:pPr>
            <a:r>
              <a:rPr sz="1600">
                <a:solidFill>
                  <a:srgbClr val="DDEEC7"/>
                </a:solidFill>
              </a:rPr>
              <a:t>• Does Sheet Gap represent plant performance the way it should?</a:t>
            </a:r>
          </a:p>
          <a:p>
            <a:pPr>
              <a:spcAft>
                <a:spcPts val="1200"/>
              </a:spcAft>
            </a:pPr>
            <a:r>
              <a:rPr sz="1600">
                <a:solidFill>
                  <a:srgbClr val="DDEEC7"/>
                </a:solidFill>
              </a:rPr>
              <a:t>• See the full "Items for Plant Review" list in the reference document for 13 specific discussion points.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